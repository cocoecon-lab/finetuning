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18"/>
  </p:notesMasterIdLst>
  <p:sldIdLst>
    <p:sldId id="256" r:id="rId2"/>
    <p:sldId id="257" r:id="rId3"/>
    <p:sldId id="262" r:id="rId4"/>
    <p:sldId id="261" r:id="rId5"/>
    <p:sldId id="259" r:id="rId6"/>
    <p:sldId id="260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631"/>
    <p:restoredTop sz="94598"/>
  </p:normalViewPr>
  <p:slideViewPr>
    <p:cSldViewPr snapToGrid="0">
      <p:cViewPr>
        <p:scale>
          <a:sx n="129" d="100"/>
          <a:sy n="129" d="100"/>
        </p:scale>
        <p:origin x="672" y="6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F0B378E1-4B20-0D42-AF9D-C5C35DA0825A}" type="doc">
      <dgm:prSet loTypeId="urn:microsoft.com/office/officeart/2005/8/layout/pyramid1" loCatId="" qsTypeId="urn:microsoft.com/office/officeart/2005/8/quickstyle/simple1" qsCatId="simple" csTypeId="urn:microsoft.com/office/officeart/2005/8/colors/accent1_2" csCatId="accent1" phldr="1"/>
      <dgm:spPr/>
    </dgm:pt>
    <dgm:pt modelId="{D1EF7E5E-169F-844E-BFF7-DEA0D16F7D2A}">
      <dgm:prSet phldrT="[Text]" custT="1"/>
      <dgm:spPr>
        <a:noFill/>
        <a:ln w="38100">
          <a:solidFill>
            <a:schemeClr val="tx1"/>
          </a:solidFill>
        </a:ln>
      </dgm:spPr>
      <dgm:t>
        <a:bodyPr/>
        <a:lstStyle/>
        <a:p>
          <a:r>
            <a:rPr lang="en-GB" sz="2800" dirty="0"/>
            <a:t>API</a:t>
          </a:r>
        </a:p>
      </dgm:t>
    </dgm:pt>
    <dgm:pt modelId="{8C7114C4-0159-2E4E-8649-9461BF7A528D}" type="parTrans" cxnId="{72545BCB-2D8B-674A-AE31-363F7E023C72}">
      <dgm:prSet/>
      <dgm:spPr/>
      <dgm:t>
        <a:bodyPr/>
        <a:lstStyle/>
        <a:p>
          <a:endParaRPr lang="en-GB"/>
        </a:p>
      </dgm:t>
    </dgm:pt>
    <dgm:pt modelId="{052B9D0A-D659-CA44-BEEE-C74058B9BA70}" type="sibTrans" cxnId="{72545BCB-2D8B-674A-AE31-363F7E023C72}">
      <dgm:prSet/>
      <dgm:spPr/>
      <dgm:t>
        <a:bodyPr/>
        <a:lstStyle/>
        <a:p>
          <a:endParaRPr lang="en-GB"/>
        </a:p>
      </dgm:t>
    </dgm:pt>
    <dgm:pt modelId="{25B5943B-0546-DB46-AA75-FAFE6744C2B0}">
      <dgm:prSet phldrT="[Text]" custT="1"/>
      <dgm:spPr>
        <a:noFill/>
        <a:ln w="38100">
          <a:solidFill>
            <a:schemeClr val="tx1"/>
          </a:solidFill>
        </a:ln>
      </dgm:spPr>
      <dgm:t>
        <a:bodyPr/>
        <a:lstStyle/>
        <a:p>
          <a:r>
            <a:rPr lang="en-GB" sz="2800" dirty="0"/>
            <a:t>Third party config-driven frameworks</a:t>
          </a:r>
        </a:p>
      </dgm:t>
    </dgm:pt>
    <dgm:pt modelId="{6FA79226-37F3-8B41-9B9D-63B1502A6DD2}" type="parTrans" cxnId="{90B79C2A-D4AD-324D-AD05-775C9FB1B8D5}">
      <dgm:prSet/>
      <dgm:spPr/>
      <dgm:t>
        <a:bodyPr/>
        <a:lstStyle/>
        <a:p>
          <a:endParaRPr lang="en-GB"/>
        </a:p>
      </dgm:t>
    </dgm:pt>
    <dgm:pt modelId="{D400F7A0-B5F7-E74B-A313-95EBD4F79F0F}" type="sibTrans" cxnId="{90B79C2A-D4AD-324D-AD05-775C9FB1B8D5}">
      <dgm:prSet/>
      <dgm:spPr/>
      <dgm:t>
        <a:bodyPr/>
        <a:lstStyle/>
        <a:p>
          <a:endParaRPr lang="en-GB"/>
        </a:p>
      </dgm:t>
    </dgm:pt>
    <dgm:pt modelId="{3D1B2016-9BC4-1A47-A382-E805EE11E0FF}">
      <dgm:prSet phldrT="[Text]" custT="1"/>
      <dgm:spPr>
        <a:noFill/>
        <a:ln w="38100">
          <a:solidFill>
            <a:schemeClr val="tx1"/>
          </a:solidFill>
        </a:ln>
      </dgm:spPr>
      <dgm:t>
        <a:bodyPr/>
        <a:lstStyle/>
        <a:p>
          <a:r>
            <a:rPr lang="en-GB" sz="2800" dirty="0"/>
            <a:t>‘Raw’ Python implementation (</a:t>
          </a:r>
          <a:r>
            <a:rPr lang="en-GB" sz="2800" dirty="0" err="1"/>
            <a:t>PyTorch</a:t>
          </a:r>
          <a:r>
            <a:rPr lang="en-GB" sz="2800" dirty="0"/>
            <a:t>, Hugging Face, TRL, PEFT)</a:t>
          </a:r>
        </a:p>
      </dgm:t>
    </dgm:pt>
    <dgm:pt modelId="{D2F4E257-835D-8240-9A64-A985B11BD3AB}" type="parTrans" cxnId="{2EE9B8A0-263A-6E42-B149-BA1E02912B39}">
      <dgm:prSet/>
      <dgm:spPr/>
      <dgm:t>
        <a:bodyPr/>
        <a:lstStyle/>
        <a:p>
          <a:endParaRPr lang="en-GB"/>
        </a:p>
      </dgm:t>
    </dgm:pt>
    <dgm:pt modelId="{6746EA7A-CB87-B541-874C-7D7282A9AFFD}" type="sibTrans" cxnId="{2EE9B8A0-263A-6E42-B149-BA1E02912B39}">
      <dgm:prSet/>
      <dgm:spPr/>
      <dgm:t>
        <a:bodyPr/>
        <a:lstStyle/>
        <a:p>
          <a:endParaRPr lang="en-GB"/>
        </a:p>
      </dgm:t>
    </dgm:pt>
    <dgm:pt modelId="{6AB23371-4D6E-1F45-BC79-CBB9FDF88AFF}" type="pres">
      <dgm:prSet presAssocID="{F0B378E1-4B20-0D42-AF9D-C5C35DA0825A}" presName="Name0" presStyleCnt="0">
        <dgm:presLayoutVars>
          <dgm:dir/>
          <dgm:animLvl val="lvl"/>
          <dgm:resizeHandles val="exact"/>
        </dgm:presLayoutVars>
      </dgm:prSet>
      <dgm:spPr/>
    </dgm:pt>
    <dgm:pt modelId="{1D91D9D9-21E1-3143-A42C-67637EF622E0}" type="pres">
      <dgm:prSet presAssocID="{D1EF7E5E-169F-844E-BFF7-DEA0D16F7D2A}" presName="Name8" presStyleCnt="0"/>
      <dgm:spPr/>
    </dgm:pt>
    <dgm:pt modelId="{C0F3756A-2C6F-B847-9838-2926A423B1D6}" type="pres">
      <dgm:prSet presAssocID="{D1EF7E5E-169F-844E-BFF7-DEA0D16F7D2A}" presName="level" presStyleLbl="node1" presStyleIdx="0" presStyleCnt="3">
        <dgm:presLayoutVars>
          <dgm:chMax val="1"/>
          <dgm:bulletEnabled val="1"/>
        </dgm:presLayoutVars>
      </dgm:prSet>
      <dgm:spPr/>
    </dgm:pt>
    <dgm:pt modelId="{342A31B3-789E-4C4B-BCCE-C5EEEA42C96A}" type="pres">
      <dgm:prSet presAssocID="{D1EF7E5E-169F-844E-BFF7-DEA0D16F7D2A}" presName="levelTx" presStyleLbl="revTx" presStyleIdx="0" presStyleCnt="0">
        <dgm:presLayoutVars>
          <dgm:chMax val="1"/>
          <dgm:bulletEnabled val="1"/>
        </dgm:presLayoutVars>
      </dgm:prSet>
      <dgm:spPr/>
    </dgm:pt>
    <dgm:pt modelId="{5DE3DE77-0918-154C-AF2F-1A01A7A9A137}" type="pres">
      <dgm:prSet presAssocID="{25B5943B-0546-DB46-AA75-FAFE6744C2B0}" presName="Name8" presStyleCnt="0"/>
      <dgm:spPr/>
    </dgm:pt>
    <dgm:pt modelId="{3CA6E1C8-5CFD-1349-9E3E-1CC29467CB6F}" type="pres">
      <dgm:prSet presAssocID="{25B5943B-0546-DB46-AA75-FAFE6744C2B0}" presName="level" presStyleLbl="node1" presStyleIdx="1" presStyleCnt="3">
        <dgm:presLayoutVars>
          <dgm:chMax val="1"/>
          <dgm:bulletEnabled val="1"/>
        </dgm:presLayoutVars>
      </dgm:prSet>
      <dgm:spPr/>
    </dgm:pt>
    <dgm:pt modelId="{E5E77E9B-6D86-C642-B566-140297F6E631}" type="pres">
      <dgm:prSet presAssocID="{25B5943B-0546-DB46-AA75-FAFE6744C2B0}" presName="levelTx" presStyleLbl="revTx" presStyleIdx="0" presStyleCnt="0">
        <dgm:presLayoutVars>
          <dgm:chMax val="1"/>
          <dgm:bulletEnabled val="1"/>
        </dgm:presLayoutVars>
      </dgm:prSet>
      <dgm:spPr/>
    </dgm:pt>
    <dgm:pt modelId="{8C4AD0F3-F005-A042-A508-E89BD1164140}" type="pres">
      <dgm:prSet presAssocID="{3D1B2016-9BC4-1A47-A382-E805EE11E0FF}" presName="Name8" presStyleCnt="0"/>
      <dgm:spPr/>
    </dgm:pt>
    <dgm:pt modelId="{08464732-484D-8F4A-9F00-B0A09AC0EC13}" type="pres">
      <dgm:prSet presAssocID="{3D1B2016-9BC4-1A47-A382-E805EE11E0FF}" presName="level" presStyleLbl="node1" presStyleIdx="2" presStyleCnt="3">
        <dgm:presLayoutVars>
          <dgm:chMax val="1"/>
          <dgm:bulletEnabled val="1"/>
        </dgm:presLayoutVars>
      </dgm:prSet>
      <dgm:spPr/>
    </dgm:pt>
    <dgm:pt modelId="{16A2D4F3-A058-A843-B60B-5CB1FF54A8D6}" type="pres">
      <dgm:prSet presAssocID="{3D1B2016-9BC4-1A47-A382-E805EE11E0FF}" presName="levelTx" presStyleLbl="revTx" presStyleIdx="0" presStyleCnt="0">
        <dgm:presLayoutVars>
          <dgm:chMax val="1"/>
          <dgm:bulletEnabled val="1"/>
        </dgm:presLayoutVars>
      </dgm:prSet>
      <dgm:spPr/>
    </dgm:pt>
  </dgm:ptLst>
  <dgm:cxnLst>
    <dgm:cxn modelId="{29DA8F08-8F4E-EE4D-B3A9-7D05365F9FBB}" type="presOf" srcId="{F0B378E1-4B20-0D42-AF9D-C5C35DA0825A}" destId="{6AB23371-4D6E-1F45-BC79-CBB9FDF88AFF}" srcOrd="0" destOrd="0" presId="urn:microsoft.com/office/officeart/2005/8/layout/pyramid1"/>
    <dgm:cxn modelId="{4737EA0B-2FC9-5643-96E0-A933D9F08B66}" type="presOf" srcId="{25B5943B-0546-DB46-AA75-FAFE6744C2B0}" destId="{3CA6E1C8-5CFD-1349-9E3E-1CC29467CB6F}" srcOrd="0" destOrd="0" presId="urn:microsoft.com/office/officeart/2005/8/layout/pyramid1"/>
    <dgm:cxn modelId="{90B79C2A-D4AD-324D-AD05-775C9FB1B8D5}" srcId="{F0B378E1-4B20-0D42-AF9D-C5C35DA0825A}" destId="{25B5943B-0546-DB46-AA75-FAFE6744C2B0}" srcOrd="1" destOrd="0" parTransId="{6FA79226-37F3-8B41-9B9D-63B1502A6DD2}" sibTransId="{D400F7A0-B5F7-E74B-A313-95EBD4F79F0F}"/>
    <dgm:cxn modelId="{109B092D-3ED2-C246-8F2B-B419603D046F}" type="presOf" srcId="{3D1B2016-9BC4-1A47-A382-E805EE11E0FF}" destId="{16A2D4F3-A058-A843-B60B-5CB1FF54A8D6}" srcOrd="1" destOrd="0" presId="urn:microsoft.com/office/officeart/2005/8/layout/pyramid1"/>
    <dgm:cxn modelId="{D716593F-FE14-5645-B569-3FABFE967837}" type="presOf" srcId="{D1EF7E5E-169F-844E-BFF7-DEA0D16F7D2A}" destId="{C0F3756A-2C6F-B847-9838-2926A423B1D6}" srcOrd="0" destOrd="0" presId="urn:microsoft.com/office/officeart/2005/8/layout/pyramid1"/>
    <dgm:cxn modelId="{F42CCC40-188B-F54B-9A0A-99A7B57555DF}" type="presOf" srcId="{25B5943B-0546-DB46-AA75-FAFE6744C2B0}" destId="{E5E77E9B-6D86-C642-B566-140297F6E631}" srcOrd="1" destOrd="0" presId="urn:microsoft.com/office/officeart/2005/8/layout/pyramid1"/>
    <dgm:cxn modelId="{41BC798C-7759-4F4B-A3AF-B249D6E5E91E}" type="presOf" srcId="{D1EF7E5E-169F-844E-BFF7-DEA0D16F7D2A}" destId="{342A31B3-789E-4C4B-BCCE-C5EEEA42C96A}" srcOrd="1" destOrd="0" presId="urn:microsoft.com/office/officeart/2005/8/layout/pyramid1"/>
    <dgm:cxn modelId="{03B09398-6ADB-9045-B486-520BD2A20156}" type="presOf" srcId="{3D1B2016-9BC4-1A47-A382-E805EE11E0FF}" destId="{08464732-484D-8F4A-9F00-B0A09AC0EC13}" srcOrd="0" destOrd="0" presId="urn:microsoft.com/office/officeart/2005/8/layout/pyramid1"/>
    <dgm:cxn modelId="{2EE9B8A0-263A-6E42-B149-BA1E02912B39}" srcId="{F0B378E1-4B20-0D42-AF9D-C5C35DA0825A}" destId="{3D1B2016-9BC4-1A47-A382-E805EE11E0FF}" srcOrd="2" destOrd="0" parTransId="{D2F4E257-835D-8240-9A64-A985B11BD3AB}" sibTransId="{6746EA7A-CB87-B541-874C-7D7282A9AFFD}"/>
    <dgm:cxn modelId="{72545BCB-2D8B-674A-AE31-363F7E023C72}" srcId="{F0B378E1-4B20-0D42-AF9D-C5C35DA0825A}" destId="{D1EF7E5E-169F-844E-BFF7-DEA0D16F7D2A}" srcOrd="0" destOrd="0" parTransId="{8C7114C4-0159-2E4E-8649-9461BF7A528D}" sibTransId="{052B9D0A-D659-CA44-BEEE-C74058B9BA70}"/>
    <dgm:cxn modelId="{7EE2F477-030C-2342-A53A-CC144C2619A8}" type="presParOf" srcId="{6AB23371-4D6E-1F45-BC79-CBB9FDF88AFF}" destId="{1D91D9D9-21E1-3143-A42C-67637EF622E0}" srcOrd="0" destOrd="0" presId="urn:microsoft.com/office/officeart/2005/8/layout/pyramid1"/>
    <dgm:cxn modelId="{F2D3C822-79A7-064F-B2E1-067E5B0CFDDE}" type="presParOf" srcId="{1D91D9D9-21E1-3143-A42C-67637EF622E0}" destId="{C0F3756A-2C6F-B847-9838-2926A423B1D6}" srcOrd="0" destOrd="0" presId="urn:microsoft.com/office/officeart/2005/8/layout/pyramid1"/>
    <dgm:cxn modelId="{49E463B4-B9E8-7845-9BE5-465D96215494}" type="presParOf" srcId="{1D91D9D9-21E1-3143-A42C-67637EF622E0}" destId="{342A31B3-789E-4C4B-BCCE-C5EEEA42C96A}" srcOrd="1" destOrd="0" presId="urn:microsoft.com/office/officeart/2005/8/layout/pyramid1"/>
    <dgm:cxn modelId="{C7E9B90D-B232-C34E-9E6F-26C688BFF20F}" type="presParOf" srcId="{6AB23371-4D6E-1F45-BC79-CBB9FDF88AFF}" destId="{5DE3DE77-0918-154C-AF2F-1A01A7A9A137}" srcOrd="1" destOrd="0" presId="urn:microsoft.com/office/officeart/2005/8/layout/pyramid1"/>
    <dgm:cxn modelId="{8AAC5217-BDEA-E74B-971B-3B72B395C9DC}" type="presParOf" srcId="{5DE3DE77-0918-154C-AF2F-1A01A7A9A137}" destId="{3CA6E1C8-5CFD-1349-9E3E-1CC29467CB6F}" srcOrd="0" destOrd="0" presId="urn:microsoft.com/office/officeart/2005/8/layout/pyramid1"/>
    <dgm:cxn modelId="{4A7D82C9-5B62-F743-92F3-11DC0E8EA127}" type="presParOf" srcId="{5DE3DE77-0918-154C-AF2F-1A01A7A9A137}" destId="{E5E77E9B-6D86-C642-B566-140297F6E631}" srcOrd="1" destOrd="0" presId="urn:microsoft.com/office/officeart/2005/8/layout/pyramid1"/>
    <dgm:cxn modelId="{07F12E3A-F1B5-374C-AB55-9C6716497F64}" type="presParOf" srcId="{6AB23371-4D6E-1F45-BC79-CBB9FDF88AFF}" destId="{8C4AD0F3-F005-A042-A508-E89BD1164140}" srcOrd="2" destOrd="0" presId="urn:microsoft.com/office/officeart/2005/8/layout/pyramid1"/>
    <dgm:cxn modelId="{BA1C2624-1DF2-4342-9528-CC81EE2DD0CF}" type="presParOf" srcId="{8C4AD0F3-F005-A042-A508-E89BD1164140}" destId="{08464732-484D-8F4A-9F00-B0A09AC0EC13}" srcOrd="0" destOrd="0" presId="urn:microsoft.com/office/officeart/2005/8/layout/pyramid1"/>
    <dgm:cxn modelId="{D69A5A80-623C-AF49-B0F1-934FFFFEEE67}" type="presParOf" srcId="{8C4AD0F3-F005-A042-A508-E89BD1164140}" destId="{16A2D4F3-A058-A843-B60B-5CB1FF54A8D6}" srcOrd="1" destOrd="0" presId="urn:microsoft.com/office/officeart/2005/8/layout/pyramid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0F3756A-2C6F-B847-9838-2926A423B1D6}">
      <dsp:nvSpPr>
        <dsp:cNvPr id="0" name=""/>
        <dsp:cNvSpPr/>
      </dsp:nvSpPr>
      <dsp:spPr>
        <a:xfrm>
          <a:off x="3505200" y="0"/>
          <a:ext cx="3505200" cy="1450446"/>
        </a:xfrm>
        <a:prstGeom prst="trapezoid">
          <a:avLst>
            <a:gd name="adj" fmla="val 120832"/>
          </a:avLst>
        </a:prstGeom>
        <a:noFill/>
        <a:ln w="38100" cap="flat" cmpd="sng" algn="ctr">
          <a:solidFill>
            <a:schemeClr val="tx1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5560" tIns="35560" rIns="35560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800" kern="1200" dirty="0"/>
            <a:t>API</a:t>
          </a:r>
        </a:p>
      </dsp:txBody>
      <dsp:txXfrm>
        <a:off x="3505200" y="0"/>
        <a:ext cx="3505200" cy="1450446"/>
      </dsp:txXfrm>
    </dsp:sp>
    <dsp:sp modelId="{3CA6E1C8-5CFD-1349-9E3E-1CC29467CB6F}">
      <dsp:nvSpPr>
        <dsp:cNvPr id="0" name=""/>
        <dsp:cNvSpPr/>
      </dsp:nvSpPr>
      <dsp:spPr>
        <a:xfrm>
          <a:off x="1752599" y="1450446"/>
          <a:ext cx="7010400" cy="1450446"/>
        </a:xfrm>
        <a:prstGeom prst="trapezoid">
          <a:avLst>
            <a:gd name="adj" fmla="val 120832"/>
          </a:avLst>
        </a:prstGeom>
        <a:noFill/>
        <a:ln w="38100" cap="flat" cmpd="sng" algn="ctr">
          <a:solidFill>
            <a:schemeClr val="tx1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5560" tIns="35560" rIns="35560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800" kern="1200" dirty="0"/>
            <a:t>Third party config-driven frameworks</a:t>
          </a:r>
        </a:p>
      </dsp:txBody>
      <dsp:txXfrm>
        <a:off x="2979419" y="1450446"/>
        <a:ext cx="4556760" cy="1450446"/>
      </dsp:txXfrm>
    </dsp:sp>
    <dsp:sp modelId="{08464732-484D-8F4A-9F00-B0A09AC0EC13}">
      <dsp:nvSpPr>
        <dsp:cNvPr id="0" name=""/>
        <dsp:cNvSpPr/>
      </dsp:nvSpPr>
      <dsp:spPr>
        <a:xfrm>
          <a:off x="0" y="2900892"/>
          <a:ext cx="10515600" cy="1450446"/>
        </a:xfrm>
        <a:prstGeom prst="trapezoid">
          <a:avLst>
            <a:gd name="adj" fmla="val 120832"/>
          </a:avLst>
        </a:prstGeom>
        <a:noFill/>
        <a:ln w="38100" cap="flat" cmpd="sng" algn="ctr">
          <a:solidFill>
            <a:schemeClr val="tx1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5560" tIns="35560" rIns="35560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800" kern="1200" dirty="0"/>
            <a:t>‘Raw’ Python implementation (</a:t>
          </a:r>
          <a:r>
            <a:rPr lang="en-GB" sz="2800" kern="1200" dirty="0" err="1"/>
            <a:t>PyTorch</a:t>
          </a:r>
          <a:r>
            <a:rPr lang="en-GB" sz="2800" kern="1200" dirty="0"/>
            <a:t>, Hugging Face, TRL, PEFT)</a:t>
          </a:r>
        </a:p>
      </dsp:txBody>
      <dsp:txXfrm>
        <a:off x="1840229" y="2900892"/>
        <a:ext cx="6835140" cy="1450446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yramid1">
  <dgm:title val=""/>
  <dgm:desc val=""/>
  <dgm:catLst>
    <dgm:cat type="pyramid" pri="1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pyra">
          <dgm:param type="linDir" val="fromB"/>
          <dgm:param type="txDir" val="fromT"/>
          <dgm:param type="pyraAcctPos" val="aft"/>
          <dgm:param type="pyraAcctTxMar" val="step"/>
          <dgm:param type="pyraAcctBkgdNode" val="acctBkgd"/>
          <dgm:param type="pyraAcctTxNode" val="acctTx"/>
          <dgm:param type="pyraLvlNode" val="level"/>
        </dgm:alg>
      </dgm:if>
      <dgm:else name="Name3">
        <dgm:alg type="pyra">
          <dgm:param type="linDir" val="fromB"/>
          <dgm:param type="txDir" val="fromT"/>
          <dgm:param type="pyraAcctPos" val="bef"/>
          <dgm:param type="pyraAcctTxMar" val="step"/>
          <dgm:param type="pyraAcctBkgdNode" val="acctBkgd"/>
          <dgm:param type="pyraAcctTxNode" val="acctTx"/>
          <dgm:param type="pyraLvlNode" val="level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root des" ptType="all node" func="maxDepth" op="gte" val="2">
        <dgm:constrLst>
          <dgm:constr type="primFontSz" for="des" forName="levelTx" op="equ"/>
          <dgm:constr type="secFontSz" for="des" forName="acctTx" op="equ"/>
          <dgm:constr type="pyraAcctRatio" val="0.32"/>
        </dgm:constrLst>
      </dgm:if>
      <dgm:else name="Name6">
        <dgm:constrLst>
          <dgm:constr type="primFontSz" for="des" forName="levelTx" op="equ"/>
          <dgm:constr type="secFontSz" for="des" forName="acctTx" op="equ"/>
          <dgm:constr type="pyraAcctRatio"/>
        </dgm:constrLst>
      </dgm:else>
    </dgm:choose>
    <dgm:ruleLst/>
    <dgm:forEach name="Name7" axis="ch" ptType="node">
      <dgm:layoutNode name="Name8">
        <dgm:alg type="composite">
          <dgm:param type="horzAlign" val="none"/>
        </dgm:alg>
        <dgm:shape xmlns:r="http://schemas.openxmlformats.org/officeDocument/2006/relationships" r:blip="">
          <dgm:adjLst/>
        </dgm:shape>
        <dgm:presOf/>
        <dgm:choose name="Name9">
          <dgm:if name="Name10" axis="self" ptType="node" func="pos" op="equ" val="1">
            <dgm:constrLst>
              <dgm:constr type="ctrX" for="ch" forName="acctBkgd" val="1"/>
              <dgm:constr type="ctrY" for="ch" forName="acctBkgd" val="1"/>
              <dgm:constr type="w" for="ch" forName="acctBkgd" val="1"/>
              <dgm:constr type="h" for="ch" forName="acctBkgd" val="1"/>
              <dgm:constr type="ctrX" for="ch" forName="acctTx" val="1"/>
              <dgm:constr type="ctrY" for="ch" forName="acctTx" val="1"/>
              <dgm:constr type="w" for="ch" forName="acctTx" val="1"/>
              <dgm:constr type="h" for="ch" forName="acctTx" val="1"/>
              <dgm:constr type="ctrX" for="ch" forName="level" val="1"/>
              <dgm:constr type="ctrY" for="ch" forName="level" val="1"/>
              <dgm:constr type="w" for="ch" forName="level" val="1"/>
              <dgm:constr type="h" for="ch" forName="level" val="1"/>
              <dgm:constr type="ctrX" for="ch" forName="levelTx" refType="ctrX" refFor="ch" refForName="level"/>
              <dgm:constr type="ctrY" for="ch" forName="levelTx" refType="ctrY" refFor="ch" refForName="level"/>
              <dgm:constr type="w" for="ch" forName="levelTx" refType="w" refFor="ch" refForName="level"/>
              <dgm:constr type="h" for="ch" forName="levelTx" refType="h" refFor="ch" refForName="level"/>
            </dgm:constrLst>
          </dgm:if>
          <dgm:else name="Name11">
            <dgm:constrLst>
              <dgm:constr type="ctrX" for="ch" forName="acctBkgd" val="1"/>
              <dgm:constr type="ctrY" for="ch" forName="acctBkgd" val="1"/>
              <dgm:constr type="w" for="ch" forName="acctBkgd" val="1"/>
              <dgm:constr type="h" for="ch" forName="acctBkgd" val="1"/>
              <dgm:constr type="ctrX" for="ch" forName="acctTx" val="1"/>
              <dgm:constr type="ctrY" for="ch" forName="acctTx" val="1"/>
              <dgm:constr type="w" for="ch" forName="acctTx" val="1"/>
              <dgm:constr type="h" for="ch" forName="acctTx" val="1"/>
              <dgm:constr type="ctrX" for="ch" forName="level" val="1"/>
              <dgm:constr type="ctrY" for="ch" forName="level" val="1"/>
              <dgm:constr type="w" for="ch" forName="level" val="1"/>
              <dgm:constr type="h" for="ch" forName="level" val="1"/>
              <dgm:constr type="ctrX" for="ch" forName="levelTx" refType="ctrX" refFor="ch" refForName="level"/>
              <dgm:constr type="ctrY" for="ch" forName="levelTx" refType="ctrY" refFor="ch" refForName="level"/>
              <dgm:constr type="w" for="ch" forName="levelTx" refType="w" refFor="ch" refForName="level" fact="0.65"/>
              <dgm:constr type="h" for="ch" forName="levelTx" refType="h" refFor="ch" refForName="level"/>
            </dgm:constrLst>
          </dgm:else>
        </dgm:choose>
        <dgm:ruleLst/>
        <dgm:choose name="Name12">
          <dgm:if name="Name13" axis="ch" ptType="node" func="cnt" op="gte" val="1">
            <dgm:layoutNode name="acctBkgd" styleLbl="alignAcc1">
              <dgm:alg type="sp"/>
              <dgm:shape xmlns:r="http://schemas.openxmlformats.org/officeDocument/2006/relationships" type="nonIsoscelesTrapezoid" r:blip="">
                <dgm:adjLst/>
              </dgm:shape>
              <dgm:presOf axis="des" ptType="node"/>
              <dgm:constrLst/>
              <dgm:ruleLst/>
            </dgm:layoutNode>
            <dgm:layoutNode name="acctTx" styleLbl="alignAcc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type="nonIsoscelesTrapezoid" r:blip="" hideGeom="1">
                <dgm:adjLst/>
              </dgm:shape>
              <dgm:presOf axis="des" ptType="node"/>
              <dgm:constrLst>
                <dgm:constr type="secFontSz" val="65"/>
                <dgm:constr type="primFontSz" refType="secFontSz"/>
                <dgm:constr type="tMarg" refType="secFontSz" fact="0.3"/>
                <dgm:constr type="bMarg" refType="secFontSz" fact="0.3"/>
                <dgm:constr type="lMarg" refType="secFontSz" fact="0.3"/>
                <dgm:constr type="rMarg" refType="secFontSz" fact="0.3"/>
              </dgm:constrLst>
              <dgm:ruleLst>
                <dgm:rule type="secFontSz" val="5" fact="NaN" max="NaN"/>
              </dgm:ruleLst>
            </dgm:layoutNode>
          </dgm:if>
          <dgm:else name="Name14"/>
        </dgm:choose>
        <dgm:layoutNode name="level">
          <dgm:varLst>
            <dgm:chMax val="1"/>
            <dgm:bulletEnabled val="1"/>
          </dgm:varLst>
          <dgm:alg type="sp"/>
          <dgm:shape xmlns:r="http://schemas.openxmlformats.org/officeDocument/2006/relationships" type="trapezoid" r:blip="">
            <dgm:adjLst/>
          </dgm:shape>
          <dgm:presOf axis="self"/>
          <dgm:constrLst>
            <dgm:constr type="h" val="500"/>
            <dgm:constr type="w" val="1"/>
          </dgm:constrLst>
          <dgm:ruleLst/>
        </dgm:layoutNode>
        <dgm:layoutNode name="levelTx" styleLbl="revTx">
          <dgm:varLst>
            <dgm:chMax val="1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1F5A265-0C27-9948-A849-8F0845167913}" type="datetimeFigureOut">
              <a:rPr lang="en-US" smtClean="0"/>
              <a:t>3/18/26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14AA987-3D60-0145-B9E8-984D81097A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127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Deepseek-R1 matched </a:t>
            </a:r>
            <a:r>
              <a:rPr lang="en-US" dirty="0" err="1"/>
              <a:t>OpenAIs</a:t>
            </a:r>
            <a:r>
              <a:rPr lang="en-US" dirty="0"/>
              <a:t> GPT-4 on many tasks. Beat it on coding and </a:t>
            </a:r>
            <a:r>
              <a:rPr lang="en-US" dirty="0" err="1"/>
              <a:t>maths</a:t>
            </a:r>
            <a:r>
              <a:rPr lang="en-US" dirty="0"/>
              <a:t> benchmarks most importantly</a:t>
            </a:r>
          </a:p>
          <a:p>
            <a:endParaRPr lang="en-US" dirty="0"/>
          </a:p>
          <a:p>
            <a:r>
              <a:rPr lang="en-US" dirty="0"/>
              <a:t>3-4x less compute for training</a:t>
            </a:r>
          </a:p>
          <a:p>
            <a:endParaRPr lang="en-US" dirty="0"/>
          </a:p>
          <a:p>
            <a:r>
              <a:rPr lang="en-US" dirty="0" err="1"/>
              <a:t>Deepseek</a:t>
            </a:r>
            <a:r>
              <a:rPr lang="en-US" dirty="0"/>
              <a:t>: 5-6 million</a:t>
            </a:r>
          </a:p>
          <a:p>
            <a:r>
              <a:rPr lang="en-US" dirty="0"/>
              <a:t>GPT-4 : 100+ million (cited </a:t>
            </a:r>
            <a:r>
              <a:rPr lang="en-US" dirty="0" err="1"/>
              <a:t>esimates</a:t>
            </a:r>
            <a:r>
              <a:rPr lang="en-US" dirty="0"/>
              <a:t>)</a:t>
            </a:r>
          </a:p>
          <a:p>
            <a:endParaRPr lang="en-US" dirty="0"/>
          </a:p>
          <a:p>
            <a:r>
              <a:rPr lang="en-US" dirty="0"/>
              <a:t>Not just “scaling wins”, post-training via fine-tuning with supervised fine tuning and clever RL (GRPO) works – wake up call for industry!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4AA987-3D60-0145-B9E8-984D81097A10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633977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lvl="0" indent="-228600">
              <a:buAutoNum type="arabicPeriod"/>
            </a:pPr>
            <a:r>
              <a:rPr lang="en-US" dirty="0"/>
              <a:t>Cheaper and faster than fine-tuning from scratch. Frontier models 100—1T parameters </a:t>
            </a:r>
            <a:r>
              <a:rPr lang="en-US" dirty="0" err="1"/>
              <a:t>MoE</a:t>
            </a:r>
            <a:r>
              <a:rPr lang="en-US" dirty="0"/>
              <a:t>. Compute for training is in 100M. Fine-tuning trains some subset which even at this scale can cost 500 – 5k. Also takes hours-days compared to months on large clusters. For smaller models you can do this on consumer GPUs! Training a small model is not tractable on a consumer GPU. </a:t>
            </a:r>
          </a:p>
          <a:p>
            <a:pPr marL="228600" lvl="0" indent="-228600">
              <a:buAutoNum type="arabicPeriod"/>
            </a:pPr>
            <a:r>
              <a:rPr lang="en-US" dirty="0"/>
              <a:t>For style </a:t>
            </a:r>
          </a:p>
          <a:p>
            <a:pPr marL="228600" lvl="0" indent="-228600">
              <a:buAutoNum type="arabicPeriod"/>
            </a:pPr>
            <a:r>
              <a:rPr lang="en-US" dirty="0"/>
              <a:t>Specific tasks meaning reasoning, programming, </a:t>
            </a:r>
            <a:r>
              <a:rPr lang="en-US" dirty="0" err="1"/>
              <a:t>maths</a:t>
            </a:r>
            <a:r>
              <a:rPr lang="en-US" dirty="0"/>
              <a:t> or </a:t>
            </a:r>
            <a:r>
              <a:rPr lang="en-US" dirty="0" err="1"/>
              <a:t>summarisation</a:t>
            </a:r>
            <a:endParaRPr lang="en-US" dirty="0"/>
          </a:p>
          <a:p>
            <a:pPr marL="228600" lvl="0" indent="-228600">
              <a:buAutoNum type="arabicPeriod"/>
            </a:pPr>
            <a:r>
              <a:rPr lang="en-US" dirty="0"/>
              <a:t>Control style and </a:t>
            </a:r>
            <a:r>
              <a:rPr lang="en-US" dirty="0" err="1"/>
              <a:t>behaviour</a:t>
            </a:r>
            <a:endParaRPr lang="en-US" dirty="0"/>
          </a:p>
          <a:p>
            <a:pPr marL="228600" lvl="0" indent="-228600">
              <a:buAutoNum type="arabicPeriod"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4AA987-3D60-0145-B9E8-984D81097A10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325157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'Raw’ python; of course not raw python, torch is the lowest level abstraction here. There would be no reason to go deeper than this (e.g. NumPy)</a:t>
            </a:r>
          </a:p>
          <a:p>
            <a:endParaRPr lang="en-US" dirty="0"/>
          </a:p>
          <a:p>
            <a:r>
              <a:rPr lang="en-US" dirty="0"/>
              <a:t>Config controlled: </a:t>
            </a:r>
            <a:r>
              <a:rPr lang="en-US" dirty="0" err="1"/>
              <a:t>unsloth</a:t>
            </a:r>
            <a:r>
              <a:rPr lang="en-US" dirty="0"/>
              <a:t> is more hacky, more lightweight config quick start. </a:t>
            </a:r>
            <a:r>
              <a:rPr lang="en-US" dirty="0" err="1"/>
              <a:t>Unsloth</a:t>
            </a:r>
            <a:r>
              <a:rPr lang="en-US" dirty="0"/>
              <a:t> is faster. Axolotl more robust and configurable.</a:t>
            </a:r>
          </a:p>
          <a:p>
            <a:endParaRPr lang="en-US" dirty="0"/>
          </a:p>
          <a:p>
            <a:r>
              <a:rPr lang="en-US" dirty="0"/>
              <a:t>FOR BOTH OF THESE YOU WILL NEED A GPU, though axolotl, </a:t>
            </a:r>
            <a:r>
              <a:rPr lang="en-US" dirty="0" err="1"/>
              <a:t>unsloth</a:t>
            </a:r>
            <a:r>
              <a:rPr lang="en-US" dirty="0"/>
              <a:t> .</a:t>
            </a:r>
            <a:r>
              <a:rPr lang="en-US" dirty="0" err="1"/>
              <a:t>etc</a:t>
            </a:r>
            <a:r>
              <a:rPr lang="en-US" dirty="0"/>
              <a:t> are </a:t>
            </a:r>
            <a:r>
              <a:rPr lang="en-US" dirty="0" err="1"/>
              <a:t>likley</a:t>
            </a:r>
            <a:r>
              <a:rPr lang="en-US" dirty="0"/>
              <a:t> to be natively more memory friendly. For example </a:t>
            </a:r>
            <a:r>
              <a:rPr lang="en-US" dirty="0" err="1"/>
              <a:t>flash_attn</a:t>
            </a:r>
            <a:r>
              <a:rPr lang="en-US" dirty="0"/>
              <a:t>=True.</a:t>
            </a:r>
          </a:p>
          <a:p>
            <a:endParaRPr lang="en-US" dirty="0"/>
          </a:p>
          <a:p>
            <a:r>
              <a:rPr lang="en-US" dirty="0"/>
              <a:t>API: </a:t>
            </a:r>
            <a:r>
              <a:rPr lang="en-US" dirty="0" err="1"/>
              <a:t>openAI</a:t>
            </a:r>
            <a:r>
              <a:rPr lang="en-US" dirty="0"/>
              <a:t> only 4.1 family, </a:t>
            </a:r>
            <a:r>
              <a:rPr lang="en-US" dirty="0" err="1"/>
              <a:t>gemini</a:t>
            </a:r>
            <a:r>
              <a:rPr lang="en-US" dirty="0"/>
              <a:t> via Vertex AI, Anthropic via amazon bedrock enterprise feature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4AA987-3D60-0145-B9E8-984D81097A10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23402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Full-fine-tuning</a:t>
            </a:r>
          </a:p>
          <a:p>
            <a:endParaRPr lang="en-US" dirty="0"/>
          </a:p>
          <a:p>
            <a:r>
              <a:rPr lang="en-US" dirty="0"/>
              <a:t>Pretend this task represents something we want to fine-tune for.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4AA987-3D60-0145-B9E8-984D81097A10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450935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a full update</a:t>
            </a:r>
          </a:p>
          <a:p>
            <a:endParaRPr lang="en-US" dirty="0"/>
          </a:p>
          <a:p>
            <a:r>
              <a:rPr lang="en-US" dirty="0"/>
              <a:t>FLOPs is floating point operations per second</a:t>
            </a:r>
          </a:p>
          <a:p>
            <a:endParaRPr lang="en-US" dirty="0"/>
          </a:p>
          <a:p>
            <a:r>
              <a:rPr lang="en-US" dirty="0"/>
              <a:t>Modern laptop 1-2 TFLOPs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4AA987-3D60-0145-B9E8-984D81097A10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352758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Rank is the number of linearly independent columns / rows in a matrix and is limited by the lowest dimension of the matrix.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4AA987-3D60-0145-B9E8-984D81097A10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587551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4AA987-3D60-0145-B9E8-984D81097A10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878093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You also have standard ones such as learning rate, num epochs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4AA987-3D60-0145-B9E8-984D81097A10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432976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B7A6-5DCD-7243-B8E0-62A6A275849F}" type="datetimeFigureOut">
              <a:rPr lang="en-US" smtClean="0"/>
              <a:t>3/18/26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550738-DA14-5C43-A1DD-B8B64B6ECE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2961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B7A6-5DCD-7243-B8E0-62A6A275849F}" type="datetimeFigureOut">
              <a:rPr lang="en-US" smtClean="0"/>
              <a:t>3/18/26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550738-DA14-5C43-A1DD-B8B64B6ECE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2711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shade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shade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shade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B7A6-5DCD-7243-B8E0-62A6A275849F}" type="datetimeFigureOut">
              <a:rPr lang="en-US" smtClean="0"/>
              <a:t>3/18/26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550738-DA14-5C43-A1DD-B8B64B6ECE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4617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B7A6-5DCD-7243-B8E0-62A6A275849F}" type="datetimeFigureOut">
              <a:rPr lang="en-US" smtClean="0"/>
              <a:t>3/18/26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550738-DA14-5C43-A1DD-B8B64B6ECE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86436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B7A6-5DCD-7243-B8E0-62A6A275849F}" type="datetimeFigureOut">
              <a:rPr lang="en-US" smtClean="0"/>
              <a:t>3/18/26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550738-DA14-5C43-A1DD-B8B64B6ECE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288838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B7A6-5DCD-7243-B8E0-62A6A275849F}" type="datetimeFigureOut">
              <a:rPr lang="en-US" smtClean="0"/>
              <a:t>3/18/26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550738-DA14-5C43-A1DD-B8B64B6ECE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877296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B7A6-5DCD-7243-B8E0-62A6A275849F}" type="datetimeFigureOut">
              <a:rPr lang="en-US" smtClean="0"/>
              <a:t>3/18/26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550738-DA14-5C43-A1DD-B8B64B6ECE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78889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B7A6-5DCD-7243-B8E0-62A6A275849F}" type="datetimeFigureOut">
              <a:rPr lang="en-US" smtClean="0"/>
              <a:t>3/18/26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550738-DA14-5C43-A1DD-B8B64B6ECE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22294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B7A6-5DCD-7243-B8E0-62A6A275849F}" type="datetimeFigureOut">
              <a:rPr lang="en-US" smtClean="0"/>
              <a:t>3/18/26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550738-DA14-5C43-A1DD-B8B64B6ECE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82838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B7A6-5DCD-7243-B8E0-62A6A275849F}" type="datetimeFigureOut">
              <a:rPr lang="en-US" smtClean="0"/>
              <a:t>3/18/26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550738-DA14-5C43-A1DD-B8B64B6ECE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57685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B7A6-5DCD-7243-B8E0-62A6A275849F}" type="datetimeFigureOut">
              <a:rPr lang="en-US" smtClean="0"/>
              <a:t>3/18/26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550738-DA14-5C43-A1DD-B8B64B6ECE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13328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fld id="{79C0B7A6-5DCD-7243-B8E0-62A6A275849F}" type="datetimeFigureOut">
              <a:rPr lang="en-US" smtClean="0"/>
              <a:t>3/18/26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fld id="{7C550738-DA14-5C43-A1DD-B8B64B6ECE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180947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13.png"/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12" Type="http://schemas.microsoft.com/office/2007/relationships/hdphoto" Target="../media/hdphoto2.wdp"/><Relationship Id="rId2" Type="http://schemas.openxmlformats.org/officeDocument/2006/relationships/notesSlide" Target="../notesSlides/notesSlide3.xml"/><Relationship Id="rId16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11" Type="http://schemas.openxmlformats.org/officeDocument/2006/relationships/image" Target="../media/image12.png"/><Relationship Id="rId5" Type="http://schemas.openxmlformats.org/officeDocument/2006/relationships/diagramQuickStyle" Target="../diagrams/quickStyle1.xml"/><Relationship Id="rId15" Type="http://schemas.openxmlformats.org/officeDocument/2006/relationships/image" Target="../media/image14.png"/><Relationship Id="rId10" Type="http://schemas.openxmlformats.org/officeDocument/2006/relationships/image" Target="../media/image11.png"/><Relationship Id="rId4" Type="http://schemas.openxmlformats.org/officeDocument/2006/relationships/diagramLayout" Target="../diagrams/layout1.xml"/><Relationship Id="rId9" Type="http://schemas.openxmlformats.org/officeDocument/2006/relationships/image" Target="../media/image10.png"/><Relationship Id="rId14" Type="http://schemas.microsoft.com/office/2007/relationships/hdphoto" Target="../media/hdphoto3.wdp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13" Type="http://schemas.openxmlformats.org/officeDocument/2006/relationships/image" Target="../media/image26.png"/><Relationship Id="rId18" Type="http://schemas.openxmlformats.org/officeDocument/2006/relationships/image" Target="../media/image31.png"/><Relationship Id="rId3" Type="http://schemas.openxmlformats.org/officeDocument/2006/relationships/image" Target="../media/image16.png"/><Relationship Id="rId21" Type="http://schemas.openxmlformats.org/officeDocument/2006/relationships/image" Target="../media/image34.png"/><Relationship Id="rId7" Type="http://schemas.openxmlformats.org/officeDocument/2006/relationships/image" Target="../media/image20.png"/><Relationship Id="rId12" Type="http://schemas.openxmlformats.org/officeDocument/2006/relationships/image" Target="../media/image25.png"/><Relationship Id="rId17" Type="http://schemas.openxmlformats.org/officeDocument/2006/relationships/image" Target="../media/image30.png"/><Relationship Id="rId2" Type="http://schemas.openxmlformats.org/officeDocument/2006/relationships/notesSlide" Target="../notesSlides/notesSlide4.xml"/><Relationship Id="rId16" Type="http://schemas.openxmlformats.org/officeDocument/2006/relationships/image" Target="../media/image29.png"/><Relationship Id="rId20" Type="http://schemas.openxmlformats.org/officeDocument/2006/relationships/image" Target="../media/image3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11" Type="http://schemas.openxmlformats.org/officeDocument/2006/relationships/image" Target="../media/image24.png"/><Relationship Id="rId24" Type="http://schemas.openxmlformats.org/officeDocument/2006/relationships/image" Target="../media/image37.png"/><Relationship Id="rId5" Type="http://schemas.openxmlformats.org/officeDocument/2006/relationships/image" Target="../media/image18.png"/><Relationship Id="rId15" Type="http://schemas.openxmlformats.org/officeDocument/2006/relationships/image" Target="../media/image28.png"/><Relationship Id="rId23" Type="http://schemas.openxmlformats.org/officeDocument/2006/relationships/image" Target="../media/image36.png"/><Relationship Id="rId10" Type="http://schemas.openxmlformats.org/officeDocument/2006/relationships/image" Target="../media/image23.png"/><Relationship Id="rId19" Type="http://schemas.openxmlformats.org/officeDocument/2006/relationships/image" Target="../media/image32.png"/><Relationship Id="rId4" Type="http://schemas.openxmlformats.org/officeDocument/2006/relationships/image" Target="../media/image17.png"/><Relationship Id="rId9" Type="http://schemas.openxmlformats.org/officeDocument/2006/relationships/image" Target="../media/image22.png"/><Relationship Id="rId14" Type="http://schemas.openxmlformats.org/officeDocument/2006/relationships/image" Target="../media/image27.png"/><Relationship Id="rId22" Type="http://schemas.openxmlformats.org/officeDocument/2006/relationships/image" Target="../media/image3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9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9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E400FF-45F6-D10E-DBE4-1F9F78FF466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Fine-tuning LLMs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FF5C93-AAF4-0EF2-9556-B38F2CB934F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D200: Machine Learning in Economics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591CAA1-E9E9-36BE-C726-606BBD3B96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313" y="5901266"/>
            <a:ext cx="2970880" cy="7199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0042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Making Sense of The DeepSeek Moment">
            <a:extLst>
              <a:ext uri="{FF2B5EF4-FFF2-40B4-BE49-F238E27FC236}">
                <a16:creationId xmlns:a16="http://schemas.microsoft.com/office/drawing/2014/main" id="{B4A08A92-5FDE-DB25-55F5-CD43D50FC9B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20775" y="1608199"/>
            <a:ext cx="6750449" cy="37971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6E5F8A3B-31E1-65A3-070E-223EC77181D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200" y="5322837"/>
            <a:ext cx="7772400" cy="1170038"/>
          </a:xfrm>
          <a:prstGeom prst="rect">
            <a:avLst/>
          </a:prstGeom>
        </p:spPr>
      </p:pic>
      <p:pic>
        <p:nvPicPr>
          <p:cNvPr id="1028" name="Picture 4" descr="Nvidia stock plunges as Chinese firm DeepSeek reveals cheap AI">
            <a:extLst>
              <a:ext uri="{FF2B5EF4-FFF2-40B4-BE49-F238E27FC236}">
                <a16:creationId xmlns:a16="http://schemas.microsoft.com/office/drawing/2014/main" id="{3A1F2AF0-0F50-CADF-BCD9-18ACC0E6EC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55305" y="864276"/>
            <a:ext cx="4875497" cy="30887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FBC7EADD-5E01-8E66-97F7-9209D346F2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January 2025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09D5190-D105-40A8-1FA5-6037D8882FD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8200" y="1653625"/>
            <a:ext cx="4373880" cy="1775375"/>
          </a:xfrm>
          <a:prstGeom prst="rect">
            <a:avLst/>
          </a:prstGeom>
        </p:spPr>
      </p:pic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B4DA63BA-0E76-8407-6017-0048D6A2A0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993053" y="6149249"/>
            <a:ext cx="2912608" cy="45707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2400" dirty="0">
                <a:solidFill>
                  <a:schemeClr val="tx1">
                    <a:lumMod val="50000"/>
                  </a:schemeClr>
                </a:solidFill>
              </a:rPr>
              <a:t>arXiv:2501.12948v2</a:t>
            </a:r>
          </a:p>
          <a:p>
            <a:endParaRPr lang="en-US" sz="2400" dirty="0">
              <a:solidFill>
                <a:schemeClr val="tx1">
                  <a:lumMod val="50000"/>
                </a:schemeClr>
              </a:solidFill>
            </a:endParaRPr>
          </a:p>
          <a:p>
            <a:endParaRPr lang="en-US" sz="2400" dirty="0">
              <a:solidFill>
                <a:schemeClr val="tx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548578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EE804E-6BBD-115E-DD09-A2CCF864A5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Setup for Hands-on Exercises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DE11BA5-B984-FDA2-760C-26BC4BC60A0F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838200" y="1825625"/>
            <a:ext cx="10515600" cy="46623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Head to </a:t>
            </a:r>
            <a:r>
              <a:rPr lang="en-US" b="1" dirty="0" err="1"/>
              <a:t>pods.acceleratescience.co.uk</a:t>
            </a:r>
            <a:endParaRPr lang="en-US" b="1" dirty="0"/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800" b="1" dirty="0"/>
              <a:t>Username: </a:t>
            </a:r>
            <a:r>
              <a:rPr lang="en-US" sz="2800" dirty="0" err="1"/>
              <a:t>CRSId</a:t>
            </a:r>
            <a:endParaRPr lang="en-US" sz="2800" dirty="0"/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/>
              <a:t>Password: </a:t>
            </a:r>
            <a:r>
              <a:rPr lang="en-US" sz="2800" dirty="0"/>
              <a:t>Acceler8</a:t>
            </a:r>
          </a:p>
          <a:p>
            <a:pPr>
              <a:lnSpc>
                <a:spcPct val="150000"/>
              </a:lnSpc>
            </a:pPr>
            <a:r>
              <a:rPr lang="en-US" dirty="0"/>
              <a:t>Choose </a:t>
            </a:r>
            <a:r>
              <a:rPr lang="en-US" dirty="0" err="1"/>
              <a:t>VSCode</a:t>
            </a:r>
            <a:r>
              <a:rPr lang="en-US" dirty="0"/>
              <a:t> as your IDE:</a:t>
            </a:r>
          </a:p>
          <a:p>
            <a:pPr>
              <a:lnSpc>
                <a:spcPct val="150000"/>
              </a:lnSpc>
            </a:pPr>
            <a:endParaRPr lang="en-US" dirty="0"/>
          </a:p>
          <a:p>
            <a:pPr>
              <a:lnSpc>
                <a:spcPct val="150000"/>
              </a:lnSpc>
            </a:pPr>
            <a:endParaRPr lang="en-US" dirty="0"/>
          </a:p>
          <a:p>
            <a:pPr>
              <a:lnSpc>
                <a:spcPct val="150000"/>
              </a:lnSpc>
            </a:pP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A4715CE-183E-AE41-6226-0EF45EDEEB9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32097" b="92455" l="24761" r="74812">
                        <a14:foregroundMark x1="74233" y1="58031" x2="71575" y2="74611"/>
                        <a14:foregroundMark x1="31697" y1="71244" x2="40184" y2="66062"/>
                        <a14:foregroundMark x1="36708" y1="68653" x2="29550" y2="63472"/>
                        <a14:foregroundMark x1="28323" y1="55959" x2="35685" y2="53368"/>
                        <a14:foregroundMark x1="40900" y1="44041" x2="40900" y2="85492"/>
                      </a14:backgroundRemoval>
                    </a14:imgEffect>
                  </a14:imgLayer>
                </a14:imgProps>
              </a:ext>
            </a:extLst>
          </a:blip>
          <a:srcRect l="18505" t="24552" r="18932"/>
          <a:stretch>
            <a:fillRect/>
          </a:stretch>
        </p:blipFill>
        <p:spPr>
          <a:xfrm>
            <a:off x="2206870" y="4539049"/>
            <a:ext cx="2281187" cy="1085774"/>
          </a:xfrm>
          <a:prstGeom prst="rect">
            <a:avLst/>
          </a:prstGeom>
        </p:spPr>
      </p:pic>
      <p:sp>
        <p:nvSpPr>
          <p:cNvPr id="8" name="Oval 7">
            <a:extLst>
              <a:ext uri="{FF2B5EF4-FFF2-40B4-BE49-F238E27FC236}">
                <a16:creationId xmlns:a16="http://schemas.microsoft.com/office/drawing/2014/main" id="{C0C88AE9-EBEF-EE59-7113-B07B5DE2AB0F}"/>
              </a:ext>
            </a:extLst>
          </p:cNvPr>
          <p:cNvSpPr/>
          <p:nvPr/>
        </p:nvSpPr>
        <p:spPr>
          <a:xfrm>
            <a:off x="2250416" y="4539049"/>
            <a:ext cx="1097047" cy="1085774"/>
          </a:xfrm>
          <a:prstGeom prst="ellipse">
            <a:avLst/>
          </a:prstGeom>
          <a:noFill/>
          <a:ln w="38100"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88681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CD5209-24A6-0264-6B6E-053E820EF8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071865"/>
            <a:ext cx="10515600" cy="4351338"/>
          </a:xfrm>
        </p:spPr>
        <p:txBody>
          <a:bodyPr anchor="b"/>
          <a:lstStyle/>
          <a:p>
            <a:pPr marL="0" indent="0" algn="ctr">
              <a:buNone/>
            </a:pPr>
            <a:r>
              <a:rPr lang="en-US" dirty="0"/>
              <a:t>Fine-tuning refers to adapting a pre-trained foundation model to a specific downstream task / domain via post-training on a usually small specialized dataset.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00EDF9B-7528-A288-FCE5-1E6B859C3F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497142"/>
            <a:ext cx="7772400" cy="3750392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034587F5-724B-F2A0-345A-A42A02FC4CCA}"/>
              </a:ext>
            </a:extLst>
          </p:cNvPr>
          <p:cNvSpPr/>
          <p:nvPr/>
        </p:nvSpPr>
        <p:spPr>
          <a:xfrm>
            <a:off x="9432758" y="3821229"/>
            <a:ext cx="549442" cy="52939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7F1A4A45-D1B3-1D31-AEC2-BAAFDF2CFFB2}"/>
              </a:ext>
            </a:extLst>
          </p:cNvPr>
          <p:cNvSpPr txBox="1">
            <a:spLocks/>
          </p:cNvSpPr>
          <p:nvPr/>
        </p:nvSpPr>
        <p:spPr>
          <a:xfrm>
            <a:off x="8740464" y="6158508"/>
            <a:ext cx="3118738" cy="52939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GB" sz="2400" dirty="0">
                <a:solidFill>
                  <a:schemeClr val="tx1">
                    <a:lumMod val="50000"/>
                  </a:schemeClr>
                </a:solidFill>
              </a:rPr>
              <a:t>Source: Google Cloud</a:t>
            </a:r>
          </a:p>
          <a:p>
            <a:endParaRPr lang="en-US" sz="2400" dirty="0">
              <a:solidFill>
                <a:schemeClr val="tx1">
                  <a:lumMod val="50000"/>
                </a:schemeClr>
              </a:solidFill>
            </a:endParaRPr>
          </a:p>
          <a:p>
            <a:endParaRPr lang="en-US" sz="2400" dirty="0">
              <a:solidFill>
                <a:schemeClr val="tx1">
                  <a:lumMod val="8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517070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91A08C-00B2-9257-DB26-92643606D0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99B75B-7B0E-595E-AE50-BF6672D4E7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Why Fine-tuning?</a:t>
            </a:r>
          </a:p>
          <a:p>
            <a:r>
              <a:rPr lang="en-US" dirty="0"/>
              <a:t>Entry Points for Fine-tuning</a:t>
            </a:r>
          </a:p>
          <a:p>
            <a:r>
              <a:rPr lang="en-US" dirty="0" err="1"/>
              <a:t>LoRA</a:t>
            </a:r>
            <a:endParaRPr lang="en-US" dirty="0"/>
          </a:p>
          <a:p>
            <a:pPr lvl="1"/>
            <a:r>
              <a:rPr lang="en-US" dirty="0"/>
              <a:t>Introduction and Theory</a:t>
            </a:r>
          </a:p>
          <a:p>
            <a:pPr lvl="1"/>
            <a:r>
              <a:rPr lang="en-US" dirty="0"/>
              <a:t>Hands-on exercise: </a:t>
            </a:r>
            <a:r>
              <a:rPr lang="en-US" i="1" dirty="0"/>
              <a:t>fine-tuning a small model for stylistic alignment</a:t>
            </a:r>
            <a:endParaRPr lang="en-US" dirty="0"/>
          </a:p>
          <a:p>
            <a:r>
              <a:rPr lang="en-US" dirty="0"/>
              <a:t>Direct Preference </a:t>
            </a:r>
            <a:r>
              <a:rPr lang="en-US" dirty="0" err="1"/>
              <a:t>Optimisation</a:t>
            </a:r>
            <a:r>
              <a:rPr lang="en-US" dirty="0"/>
              <a:t> (DPO)</a:t>
            </a:r>
          </a:p>
          <a:p>
            <a:pPr lvl="1"/>
            <a:r>
              <a:rPr lang="en-US" dirty="0"/>
              <a:t>Introduction and Theory</a:t>
            </a:r>
          </a:p>
          <a:p>
            <a:pPr lvl="1"/>
            <a:r>
              <a:rPr lang="en-US" dirty="0"/>
              <a:t>Hands-on exercise: </a:t>
            </a:r>
            <a:r>
              <a:rPr lang="en-US" i="1" dirty="0"/>
              <a:t>RLHF for human-preferred responses</a:t>
            </a:r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1593610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605E5E-C6E2-8A7E-DD49-EA267DC542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(</a:t>
            </a:r>
            <a:r>
              <a:rPr lang="en-US" i="1" dirty="0"/>
              <a:t>Parameter Efficient</a:t>
            </a:r>
            <a:r>
              <a:rPr lang="en-US" dirty="0"/>
              <a:t>) Fine-tuning?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0562011-5402-D7D3-C16F-F4DB66CA9A2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Cheaper and faster than training from scratch</a:t>
                </a:r>
              </a:p>
              <a:p>
                <a:r>
                  <a:rPr lang="en-US" dirty="0"/>
                  <a:t>Align models to specific tasks</a:t>
                </a:r>
              </a:p>
              <a:p>
                <a:r>
                  <a:rPr lang="en-US" dirty="0"/>
                  <a:t>Control style and </a:t>
                </a:r>
                <a:r>
                  <a:rPr lang="en-US" dirty="0" err="1"/>
                  <a:t>behaviour</a:t>
                </a:r>
                <a:endParaRPr lang="en-US" dirty="0"/>
              </a:p>
              <a:p>
                <a:r>
                  <a:rPr lang="en-US" dirty="0"/>
                  <a:t>Inject domain knowledge (</a:t>
                </a:r>
                <a:r>
                  <a:rPr lang="en-US" i="1" dirty="0"/>
                  <a:t>within limits</a:t>
                </a:r>
                <a:r>
                  <a:rPr lang="en-US" dirty="0"/>
                  <a:t>)</a:t>
                </a:r>
              </a:p>
              <a:p>
                <a:r>
                  <a:rPr lang="en-US" dirty="0"/>
                  <a:t>Datasets are usually small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GB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10</m:t>
                            </m:r>
                          </m:e>
                          <m:sup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6</m:t>
                            </m:r>
                          </m:sup>
                        </m:sSup>
                      </m:e>
                    </m:d>
                  </m:oMath>
                </a14:m>
                <a:r>
                  <a:rPr lang="en-GB" b="0" dirty="0"/>
                  <a:t> tokens for effective style alignment </a:t>
                </a:r>
                <a:r>
                  <a:rPr lang="en-GB" b="0" dirty="0" err="1"/>
                  <a:t>LoRA</a:t>
                </a:r>
                <a:r>
                  <a:rPr lang="en-GB" b="0" dirty="0"/>
                  <a:t> fine-tuning on a small/medium model  (</a:t>
                </a:r>
                <a14:m>
                  <m:oMath xmlns:m="http://schemas.openxmlformats.org/officeDocument/2006/math">
                    <m:r>
                      <a:rPr lang="en-GB" b="0" i="0" smtClean="0">
                        <a:latin typeface="Cambria Math" panose="02040503050406030204" pitchFamily="18" charset="0"/>
                      </a:rPr>
                      <m:t>~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10-70</m:t>
                    </m:r>
                    <m:r>
                      <m:rPr>
                        <m:sty m:val="p"/>
                      </m:rPr>
                      <a:rPr lang="en-GB" b="0" i="1" smtClean="0">
                        <a:latin typeface="Cambria Math" panose="02040503050406030204" pitchFamily="18" charset="0"/>
                      </a:rPr>
                      <m:t>B</m:t>
                    </m:r>
                  </m:oMath>
                </a14:m>
                <a:r>
                  <a:rPr lang="en-GB" b="0" i="1" dirty="0"/>
                  <a:t> base model parameters</a:t>
                </a:r>
                <a:r>
                  <a:rPr lang="en-GB" b="0" dirty="0"/>
                  <a:t>)</a:t>
                </a:r>
              </a:p>
              <a:p>
                <a:pPr lvl="1"/>
                <a:endParaRPr lang="en-GB" b="0" dirty="0"/>
              </a:p>
              <a:p>
                <a:pPr lvl="1"/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0562011-5402-D7D3-C16F-F4DB66CA9A2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086" t="-23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890560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4653D3-DBEF-94CD-2D0A-5874735679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Entry Points for PEFT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71E784B3-90CE-A877-7A47-6102DB2F96F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50729895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EC79E17F-3E02-F9DE-6DCC-772DC7771358}"/>
              </a:ext>
            </a:extLst>
          </p:cNvPr>
          <p:cNvCxnSpPr>
            <a:cxnSpLocks/>
          </p:cNvCxnSpPr>
          <p:nvPr/>
        </p:nvCxnSpPr>
        <p:spPr>
          <a:xfrm flipV="1">
            <a:off x="10535478" y="2122998"/>
            <a:ext cx="0" cy="286445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itle 1">
            <a:extLst>
              <a:ext uri="{FF2B5EF4-FFF2-40B4-BE49-F238E27FC236}">
                <a16:creationId xmlns:a16="http://schemas.microsoft.com/office/drawing/2014/main" id="{53FA1FC3-3F82-3F8A-0B08-07C4F1CCA8D9}"/>
              </a:ext>
            </a:extLst>
          </p:cNvPr>
          <p:cNvSpPr txBox="1">
            <a:spLocks/>
          </p:cNvSpPr>
          <p:nvPr/>
        </p:nvSpPr>
        <p:spPr>
          <a:xfrm rot="5400000">
            <a:off x="9247113" y="3049676"/>
            <a:ext cx="3593041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dirty="0"/>
              <a:t>Level of Abstraction</a:t>
            </a:r>
          </a:p>
        </p:txBody>
      </p:sp>
      <p:pic>
        <p:nvPicPr>
          <p:cNvPr id="3074" name="Picture 2" descr="The secret meaning behind the OpenAI logo - Community - OpenAI Developer  Community">
            <a:extLst>
              <a:ext uri="{FF2B5EF4-FFF2-40B4-BE49-F238E27FC236}">
                <a16:creationId xmlns:a16="http://schemas.microsoft.com/office/drawing/2014/main" id="{F92D6394-C9CB-DBDC-A56D-C67A2C691D4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40471" y="2725492"/>
            <a:ext cx="455275" cy="4552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>
            <a:extLst>
              <a:ext uri="{FF2B5EF4-FFF2-40B4-BE49-F238E27FC236}">
                <a16:creationId xmlns:a16="http://schemas.microsoft.com/office/drawing/2014/main" id="{2BA542E8-A8C3-56E9-C3BE-C3727C01034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73059" y="2713564"/>
            <a:ext cx="479132" cy="4791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6" name="Picture 14" descr="Claude Free SVG, PNG, and vector dow... · LobeHub">
            <a:extLst>
              <a:ext uri="{FF2B5EF4-FFF2-40B4-BE49-F238E27FC236}">
                <a16:creationId xmlns:a16="http://schemas.microsoft.com/office/drawing/2014/main" id="{E74E65A8-D2F0-1563-A152-D0E49904512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29504" y="2725492"/>
            <a:ext cx="479133" cy="4791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8" name="Picture 16" descr="Tuned, by Axolotl | Substack">
            <a:extLst>
              <a:ext uri="{FF2B5EF4-FFF2-40B4-BE49-F238E27FC236}">
                <a16:creationId xmlns:a16="http://schemas.microsoft.com/office/drawing/2014/main" id="{4B46B0F2-B89C-68A6-83C9-3330E850985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BEBA8EAE-BF5A-486C-A8C5-ECC9F3942E4B}">
                <a14:imgProps xmlns:a14="http://schemas.microsoft.com/office/drawing/2010/main">
                  <a14:imgLayer r:embed="rId12">
                    <a14:imgEffect>
                      <a14:backgroundRemoval t="10000" b="90000" l="10000" r="90000">
                        <a14:foregroundMark x1="28571" y1="34286" x2="27714" y2="34714"/>
                        <a14:foregroundMark x1="51000" y1="49000" x2="51000" y2="47000"/>
                        <a14:foregroundMark x1="66143" y1="49143" x2="66571" y2="45571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99227" y="4001294"/>
            <a:ext cx="656114" cy="6561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90" name="Picture 18" descr="Unsloth AI · GitHub">
            <a:extLst>
              <a:ext uri="{FF2B5EF4-FFF2-40B4-BE49-F238E27FC236}">
                <a16:creationId xmlns:a16="http://schemas.microsoft.com/office/drawing/2014/main" id="{1E974463-7E37-5E25-DBDC-BB2DF5211DE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BEBA8EAE-BF5A-486C-A8C5-ECC9F3942E4B}">
                <a14:imgProps xmlns:a14="http://schemas.microsoft.com/office/drawing/2010/main">
                  <a14:imgLayer r:embed="rId14">
                    <a14:imgEffect>
                      <a14:backgroundRemoval t="10000" b="90000" l="10000" r="90000">
                        <a14:foregroundMark x1="51429" y1="56429" x2="52857" y2="50000"/>
                        <a14:foregroundMark x1="32143" y1="50000" x2="57500" y2="40714"/>
                        <a14:foregroundMark x1="57500" y1="40714" x2="45714" y2="51429"/>
                        <a14:foregroundMark x1="45714" y1="51429" x2="52143" y2="38929"/>
                        <a14:foregroundMark x1="52143" y1="38929" x2="59643" y2="40000"/>
                        <a14:foregroundMark x1="37143" y1="39286" x2="37143" y2="56786"/>
                        <a14:foregroundMark x1="37143" y1="56786" x2="53929" y2="55357"/>
                        <a14:foregroundMark x1="53929" y1="55357" x2="51071" y2="57857"/>
                        <a14:foregroundMark x1="36429" y1="52857" x2="38571" y2="43214"/>
                        <a14:foregroundMark x1="61071" y1="46071" x2="57143" y2="48571"/>
                        <a14:foregroundMark x1="59286" y1="48214" x2="59286" y2="51071"/>
                        <a14:foregroundMark x1="21786" y1="61071" x2="25357" y2="39643"/>
                        <a14:foregroundMark x1="25357" y1="39643" x2="33571" y2="28571"/>
                        <a14:foregroundMark x1="33571" y1="28571" x2="36071" y2="26786"/>
                        <a14:foregroundMark x1="37857" y1="25714" x2="69286" y2="26429"/>
                        <a14:foregroundMark x1="69286" y1="26429" x2="53929" y2="24286"/>
                        <a14:foregroundMark x1="53929" y1="24286" x2="67500" y2="27500"/>
                        <a14:foregroundMark x1="67500" y1="27500" x2="69286" y2="45714"/>
                        <a14:foregroundMark x1="69286" y1="45714" x2="80000" y2="59286"/>
                        <a14:foregroundMark x1="80000" y1="59286" x2="49643" y2="75000"/>
                        <a14:foregroundMark x1="49643" y1="75000" x2="35714" y2="71786"/>
                        <a14:foregroundMark x1="35714" y1="71786" x2="23929" y2="61429"/>
                        <a14:foregroundMark x1="23929" y1="61429" x2="21786" y2="61071"/>
                        <a14:foregroundMark x1="21786" y1="60714" x2="61071" y2="66786"/>
                        <a14:foregroundMark x1="19643" y1="66071" x2="71071" y2="66786"/>
                        <a14:foregroundMark x1="40357" y1="44643" x2="40357" y2="26429"/>
                        <a14:foregroundMark x1="40357" y1="26429" x2="43214" y2="21071"/>
                        <a14:foregroundMark x1="43214" y1="21071" x2="60357" y2="21071"/>
                        <a14:foregroundMark x1="40714" y1="22857" x2="64286" y2="23571"/>
                        <a14:foregroundMark x1="64286" y1="23571" x2="77857" y2="4535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56853" y="4001294"/>
            <a:ext cx="656114" cy="6561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92" name="Picture 20" descr="PyTorch | Meta Open Source">
            <a:extLst>
              <a:ext uri="{FF2B5EF4-FFF2-40B4-BE49-F238E27FC236}">
                <a16:creationId xmlns:a16="http://schemas.microsoft.com/office/drawing/2014/main" id="{EE090864-6634-D0CC-38E8-E8056F82551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532" t="21485" r="31512" b="19574"/>
          <a:stretch>
            <a:fillRect/>
          </a:stretch>
        </p:blipFill>
        <p:spPr bwMode="auto">
          <a:xfrm>
            <a:off x="2265285" y="5508978"/>
            <a:ext cx="497034" cy="5145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94" name="Picture 22" descr="Introduction with Hugging Face.. If you are new in Deep Learning Field… |  by Shadowshukla | AI Advances">
            <a:extLst>
              <a:ext uri="{FF2B5EF4-FFF2-40B4-BE49-F238E27FC236}">
                <a16:creationId xmlns:a16="http://schemas.microsoft.com/office/drawing/2014/main" id="{C5C4C622-69A0-E0AF-FCDD-8130F6A32E6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45447" y="5508978"/>
            <a:ext cx="514584" cy="5145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EA6377B0-193F-F955-2155-95CE56CC96ED}"/>
              </a:ext>
            </a:extLst>
          </p:cNvPr>
          <p:cNvSpPr/>
          <p:nvPr/>
        </p:nvSpPr>
        <p:spPr>
          <a:xfrm>
            <a:off x="2009708" y="1496291"/>
            <a:ext cx="8038407" cy="322533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AF45C1F-712B-006A-9C39-D95C468AB2EA}"/>
              </a:ext>
            </a:extLst>
          </p:cNvPr>
          <p:cNvSpPr/>
          <p:nvPr/>
        </p:nvSpPr>
        <p:spPr>
          <a:xfrm>
            <a:off x="3360031" y="1496291"/>
            <a:ext cx="6673431" cy="177061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AC368C68-422A-2E06-6C87-BD803D53A458}"/>
              </a:ext>
            </a:extLst>
          </p:cNvPr>
          <p:cNvCxnSpPr>
            <a:cxnSpLocks/>
          </p:cNvCxnSpPr>
          <p:nvPr/>
        </p:nvCxnSpPr>
        <p:spPr>
          <a:xfrm>
            <a:off x="1097280" y="4001294"/>
            <a:ext cx="831273" cy="90321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Content Placeholder 2">
            <a:extLst>
              <a:ext uri="{FF2B5EF4-FFF2-40B4-BE49-F238E27FC236}">
                <a16:creationId xmlns:a16="http://schemas.microsoft.com/office/drawing/2014/main" id="{14E4EC58-9601-F5BA-D1A7-6CCDC7B36A48}"/>
              </a:ext>
            </a:extLst>
          </p:cNvPr>
          <p:cNvSpPr txBox="1">
            <a:spLocks/>
          </p:cNvSpPr>
          <p:nvPr/>
        </p:nvSpPr>
        <p:spPr>
          <a:xfrm>
            <a:off x="506776" y="3501282"/>
            <a:ext cx="1421777" cy="5000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dirty="0"/>
              <a:t>Today!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930561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24" grpId="0" build="allAtOnce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29EFFFA6-176D-8935-94CB-83677F40B1C0}"/>
              </a:ext>
            </a:extLst>
          </p:cNvPr>
          <p:cNvSpPr/>
          <p:nvPr/>
        </p:nvSpPr>
        <p:spPr>
          <a:xfrm>
            <a:off x="2730459" y="1984922"/>
            <a:ext cx="4020480" cy="2837983"/>
          </a:xfrm>
          <a:custGeom>
            <a:avLst/>
            <a:gdLst>
              <a:gd name="csX0" fmla="*/ 0 w 4020480"/>
              <a:gd name="csY0" fmla="*/ 0 h 2837983"/>
              <a:gd name="csX1" fmla="*/ 629875 w 4020480"/>
              <a:gd name="csY1" fmla="*/ 0 h 2837983"/>
              <a:gd name="csX2" fmla="*/ 1179341 w 4020480"/>
              <a:gd name="csY2" fmla="*/ 0 h 2837983"/>
              <a:gd name="csX3" fmla="*/ 1929830 w 4020480"/>
              <a:gd name="csY3" fmla="*/ 0 h 2837983"/>
              <a:gd name="csX4" fmla="*/ 2559706 w 4020480"/>
              <a:gd name="csY4" fmla="*/ 0 h 2837983"/>
              <a:gd name="csX5" fmla="*/ 3189581 w 4020480"/>
              <a:gd name="csY5" fmla="*/ 0 h 2837983"/>
              <a:gd name="csX6" fmla="*/ 4020480 w 4020480"/>
              <a:gd name="csY6" fmla="*/ 0 h 2837983"/>
              <a:gd name="csX7" fmla="*/ 4020480 w 4020480"/>
              <a:gd name="csY7" fmla="*/ 510837 h 2837983"/>
              <a:gd name="csX8" fmla="*/ 4020480 w 4020480"/>
              <a:gd name="csY8" fmla="*/ 1078434 h 2837983"/>
              <a:gd name="csX9" fmla="*/ 4020480 w 4020480"/>
              <a:gd name="csY9" fmla="*/ 1589270 h 2837983"/>
              <a:gd name="csX10" fmla="*/ 4020480 w 4020480"/>
              <a:gd name="csY10" fmla="*/ 2100107 h 2837983"/>
              <a:gd name="csX11" fmla="*/ 4020480 w 4020480"/>
              <a:gd name="csY11" fmla="*/ 2837983 h 2837983"/>
              <a:gd name="csX12" fmla="*/ 3310195 w 4020480"/>
              <a:gd name="csY12" fmla="*/ 2837983 h 2837983"/>
              <a:gd name="csX13" fmla="*/ 2559706 w 4020480"/>
              <a:gd name="csY13" fmla="*/ 2837983 h 2837983"/>
              <a:gd name="csX14" fmla="*/ 1809216 w 4020480"/>
              <a:gd name="csY14" fmla="*/ 2837983 h 2837983"/>
              <a:gd name="csX15" fmla="*/ 1219546 w 4020480"/>
              <a:gd name="csY15" fmla="*/ 2837983 h 2837983"/>
              <a:gd name="csX16" fmla="*/ 0 w 4020480"/>
              <a:gd name="csY16" fmla="*/ 2837983 h 2837983"/>
              <a:gd name="csX17" fmla="*/ 0 w 4020480"/>
              <a:gd name="csY17" fmla="*/ 2213627 h 2837983"/>
              <a:gd name="csX18" fmla="*/ 0 w 4020480"/>
              <a:gd name="csY18" fmla="*/ 1731170 h 2837983"/>
              <a:gd name="csX19" fmla="*/ 0 w 4020480"/>
              <a:gd name="csY19" fmla="*/ 1220333 h 2837983"/>
              <a:gd name="csX20" fmla="*/ 0 w 4020480"/>
              <a:gd name="csY20" fmla="*/ 709496 h 2837983"/>
              <a:gd name="csX21" fmla="*/ 0 w 4020480"/>
              <a:gd name="csY21" fmla="*/ 0 h 283798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</a:cxnLst>
            <a:rect l="l" t="t" r="r" b="b"/>
            <a:pathLst>
              <a:path w="4020480" h="2837983" extrusionOk="0">
                <a:moveTo>
                  <a:pt x="0" y="0"/>
                </a:moveTo>
                <a:cubicBezTo>
                  <a:pt x="148630" y="17168"/>
                  <a:pt x="377536" y="14251"/>
                  <a:pt x="629875" y="0"/>
                </a:cubicBezTo>
                <a:cubicBezTo>
                  <a:pt x="882215" y="-14251"/>
                  <a:pt x="1054337" y="21795"/>
                  <a:pt x="1179341" y="0"/>
                </a:cubicBezTo>
                <a:cubicBezTo>
                  <a:pt x="1304345" y="-21795"/>
                  <a:pt x="1715921" y="10856"/>
                  <a:pt x="1929830" y="0"/>
                </a:cubicBezTo>
                <a:cubicBezTo>
                  <a:pt x="2143739" y="-10856"/>
                  <a:pt x="2369780" y="13415"/>
                  <a:pt x="2559706" y="0"/>
                </a:cubicBezTo>
                <a:cubicBezTo>
                  <a:pt x="2749632" y="-13415"/>
                  <a:pt x="2904446" y="-13563"/>
                  <a:pt x="3189581" y="0"/>
                </a:cubicBezTo>
                <a:cubicBezTo>
                  <a:pt x="3474716" y="13563"/>
                  <a:pt x="3631681" y="7199"/>
                  <a:pt x="4020480" y="0"/>
                </a:cubicBezTo>
                <a:cubicBezTo>
                  <a:pt x="4007149" y="120251"/>
                  <a:pt x="3998464" y="297122"/>
                  <a:pt x="4020480" y="510837"/>
                </a:cubicBezTo>
                <a:cubicBezTo>
                  <a:pt x="4042496" y="724552"/>
                  <a:pt x="4022882" y="932617"/>
                  <a:pt x="4020480" y="1078434"/>
                </a:cubicBezTo>
                <a:cubicBezTo>
                  <a:pt x="4018078" y="1224251"/>
                  <a:pt x="3998890" y="1450167"/>
                  <a:pt x="4020480" y="1589270"/>
                </a:cubicBezTo>
                <a:cubicBezTo>
                  <a:pt x="4042070" y="1728373"/>
                  <a:pt x="4013404" y="1877443"/>
                  <a:pt x="4020480" y="2100107"/>
                </a:cubicBezTo>
                <a:cubicBezTo>
                  <a:pt x="4027556" y="2322771"/>
                  <a:pt x="4013319" y="2616968"/>
                  <a:pt x="4020480" y="2837983"/>
                </a:cubicBezTo>
                <a:cubicBezTo>
                  <a:pt x="3705324" y="2836748"/>
                  <a:pt x="3647873" y="2854765"/>
                  <a:pt x="3310195" y="2837983"/>
                </a:cubicBezTo>
                <a:cubicBezTo>
                  <a:pt x="2972517" y="2821201"/>
                  <a:pt x="2736844" y="2846635"/>
                  <a:pt x="2559706" y="2837983"/>
                </a:cubicBezTo>
                <a:cubicBezTo>
                  <a:pt x="2382568" y="2829331"/>
                  <a:pt x="1981814" y="2844912"/>
                  <a:pt x="1809216" y="2837983"/>
                </a:cubicBezTo>
                <a:cubicBezTo>
                  <a:pt x="1636618" y="2831055"/>
                  <a:pt x="1494200" y="2840156"/>
                  <a:pt x="1219546" y="2837983"/>
                </a:cubicBezTo>
                <a:cubicBezTo>
                  <a:pt x="944892" y="2835811"/>
                  <a:pt x="356578" y="2830172"/>
                  <a:pt x="0" y="2837983"/>
                </a:cubicBezTo>
                <a:cubicBezTo>
                  <a:pt x="13456" y="2550270"/>
                  <a:pt x="12376" y="2345685"/>
                  <a:pt x="0" y="2213627"/>
                </a:cubicBezTo>
                <a:cubicBezTo>
                  <a:pt x="-12376" y="2081569"/>
                  <a:pt x="9900" y="1952424"/>
                  <a:pt x="0" y="1731170"/>
                </a:cubicBezTo>
                <a:cubicBezTo>
                  <a:pt x="-9900" y="1509916"/>
                  <a:pt x="-13224" y="1339196"/>
                  <a:pt x="0" y="1220333"/>
                </a:cubicBezTo>
                <a:cubicBezTo>
                  <a:pt x="13224" y="1101470"/>
                  <a:pt x="-23179" y="927263"/>
                  <a:pt x="0" y="709496"/>
                </a:cubicBezTo>
                <a:cubicBezTo>
                  <a:pt x="23179" y="491729"/>
                  <a:pt x="-9275" y="159891"/>
                  <a:pt x="0" y="0"/>
                </a:cubicBezTo>
                <a:close/>
              </a:path>
            </a:pathLst>
          </a:custGeom>
          <a:noFill/>
          <a:ln w="38100">
            <a:solidFill>
              <a:schemeClr val="tx1"/>
            </a:solidFill>
            <a:prstDash val="dash"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175DC7C-8EBA-23BE-3ECE-15FD173A0B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Full Fine-tuning (FFT)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8819082-5B73-CB37-A06B-FCF9F559CBF1}"/>
              </a:ext>
            </a:extLst>
          </p:cNvPr>
          <p:cNvSpPr/>
          <p:nvPr/>
        </p:nvSpPr>
        <p:spPr>
          <a:xfrm>
            <a:off x="1771454" y="2746354"/>
            <a:ext cx="680688" cy="1365297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Embed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3976CEB0-644F-1612-96F3-D72096A06E87}"/>
                  </a:ext>
                </a:extLst>
              </p:cNvPr>
              <p:cNvSpPr/>
              <p:nvPr/>
            </p:nvSpPr>
            <p:spPr>
              <a:xfrm>
                <a:off x="2891247" y="2325031"/>
                <a:ext cx="670002" cy="2207942"/>
              </a:xfrm>
              <a:prstGeom prst="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1200" b="0" i="1" dirty="0"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GB" sz="1200" b="0" i="0" smtClean="0">
                              <a:latin typeface="Cambria Math" panose="02040503050406030204" pitchFamily="18" charset="0"/>
                            </a:rPr>
                            <m:t>Attn</m:t>
                          </m:r>
                        </m:e>
                        <m:sub>
                          <m:r>
                            <a:rPr lang="en-GB" sz="12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GB" sz="1200" b="0" dirty="0"/>
              </a:p>
              <a:p>
                <a:pPr algn="ctr"/>
                <a:endParaRPr lang="en-US" sz="1200" dirty="0"/>
              </a:p>
            </p:txBody>
          </p:sp>
        </mc:Choice>
        <mc:Fallback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3976CEB0-644F-1612-96F3-D72096A06E8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91247" y="2325031"/>
                <a:ext cx="670002" cy="220794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1A027CA8-A92D-8067-5C02-4783C48CA899}"/>
                  </a:ext>
                </a:extLst>
              </p:cNvPr>
              <p:cNvSpPr/>
              <p:nvPr/>
            </p:nvSpPr>
            <p:spPr>
              <a:xfrm>
                <a:off x="3862823" y="2325032"/>
                <a:ext cx="670002" cy="2207942"/>
              </a:xfrm>
              <a:prstGeom prst="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1200" b="0" i="1" dirty="0"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GB" sz="1200" b="0" i="0" smtClean="0">
                              <a:latin typeface="Cambria Math" panose="02040503050406030204" pitchFamily="18" charset="0"/>
                            </a:rPr>
                            <m:t>MLP</m:t>
                          </m:r>
                        </m:e>
                        <m:sub>
                          <m:r>
                            <a:rPr lang="en-GB" sz="12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GB" sz="1200" b="0" dirty="0"/>
              </a:p>
              <a:p>
                <a:pPr algn="ctr"/>
                <a:endParaRPr lang="en-US" sz="1200" dirty="0"/>
              </a:p>
            </p:txBody>
          </p:sp>
        </mc:Choice>
        <mc:Fallback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1A027CA8-A92D-8067-5C02-4783C48CA89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62823" y="2325032"/>
                <a:ext cx="670002" cy="220794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B0BD277C-E24A-C0BB-03BF-D0E317C0D702}"/>
                  </a:ext>
                </a:extLst>
              </p:cNvPr>
              <p:cNvSpPr/>
              <p:nvPr/>
            </p:nvSpPr>
            <p:spPr>
              <a:xfrm>
                <a:off x="4922550" y="2325031"/>
                <a:ext cx="670002" cy="2207942"/>
              </a:xfrm>
              <a:prstGeom prst="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1200" b="0" i="1" dirty="0"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GB" sz="1200" b="0" i="0" smtClean="0">
                              <a:latin typeface="Cambria Math" panose="02040503050406030204" pitchFamily="18" charset="0"/>
                            </a:rPr>
                            <m:t>Attn</m:t>
                          </m:r>
                        </m:e>
                        <m:sub>
                          <m:r>
                            <a:rPr lang="en-GB" sz="12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sub>
                      </m:sSub>
                    </m:oMath>
                  </m:oMathPara>
                </a14:m>
                <a:endParaRPr lang="en-GB" sz="1200" b="0" dirty="0"/>
              </a:p>
              <a:p>
                <a:pPr algn="ctr"/>
                <a:endParaRPr lang="en-US" sz="1200" dirty="0"/>
              </a:p>
            </p:txBody>
          </p:sp>
        </mc:Choice>
        <mc:Fallback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B0BD277C-E24A-C0BB-03BF-D0E317C0D70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22550" y="2325031"/>
                <a:ext cx="670002" cy="220794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46035D8E-3551-FF39-C56E-DD28D440CCED}"/>
                  </a:ext>
                </a:extLst>
              </p:cNvPr>
              <p:cNvSpPr/>
              <p:nvPr/>
            </p:nvSpPr>
            <p:spPr>
              <a:xfrm>
                <a:off x="5876210" y="2325031"/>
                <a:ext cx="670003" cy="2207942"/>
              </a:xfrm>
              <a:prstGeom prst="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1200" b="0" i="1" dirty="0"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GB" sz="1200" b="0" i="0" smtClean="0">
                              <a:latin typeface="Cambria Math" panose="02040503050406030204" pitchFamily="18" charset="0"/>
                            </a:rPr>
                            <m:t>MLP</m:t>
                          </m:r>
                        </m:e>
                        <m:sub>
                          <m:r>
                            <a:rPr lang="en-GB" sz="12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sub>
                      </m:sSub>
                    </m:oMath>
                  </m:oMathPara>
                </a14:m>
                <a:endParaRPr lang="en-GB" sz="1200" b="0" dirty="0"/>
              </a:p>
              <a:p>
                <a:pPr algn="ctr"/>
                <a:endParaRPr lang="en-US" sz="1200" dirty="0"/>
              </a:p>
            </p:txBody>
          </p:sp>
        </mc:Choice>
        <mc:Fallback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46035D8E-3551-FF39-C56E-DD28D440CCE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76210" y="2325031"/>
                <a:ext cx="670003" cy="220794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TextBox 17">
            <a:extLst>
              <a:ext uri="{FF2B5EF4-FFF2-40B4-BE49-F238E27FC236}">
                <a16:creationId xmlns:a16="http://schemas.microsoft.com/office/drawing/2014/main" id="{F46FAA6B-970E-102F-356E-1E867F3304F9}"/>
              </a:ext>
            </a:extLst>
          </p:cNvPr>
          <p:cNvSpPr txBox="1"/>
          <p:nvPr/>
        </p:nvSpPr>
        <p:spPr>
          <a:xfrm>
            <a:off x="4550331" y="3219245"/>
            <a:ext cx="3722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FD59AD9A-48C3-3835-0CBB-214053FA2C4C}"/>
              </a:ext>
            </a:extLst>
          </p:cNvPr>
          <p:cNvCxnSpPr>
            <a:cxnSpLocks/>
            <a:stCxn id="8" idx="3"/>
            <a:endCxn id="14" idx="1"/>
          </p:cNvCxnSpPr>
          <p:nvPr/>
        </p:nvCxnSpPr>
        <p:spPr>
          <a:xfrm flipV="1">
            <a:off x="2452142" y="3429002"/>
            <a:ext cx="439105" cy="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62FCE0B5-1BEC-2351-51DE-1680E123E911}"/>
              </a:ext>
            </a:extLst>
          </p:cNvPr>
          <p:cNvCxnSpPr>
            <a:cxnSpLocks/>
            <a:stCxn id="14" idx="3"/>
            <a:endCxn id="15" idx="1"/>
          </p:cNvCxnSpPr>
          <p:nvPr/>
        </p:nvCxnSpPr>
        <p:spPr>
          <a:xfrm>
            <a:off x="3561249" y="3429002"/>
            <a:ext cx="301574" cy="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F142DBA3-1A3D-8BB1-BB0A-8715E5E8EA9E}"/>
              </a:ext>
            </a:extLst>
          </p:cNvPr>
          <p:cNvCxnSpPr>
            <a:cxnSpLocks/>
            <a:stCxn id="16" idx="3"/>
            <a:endCxn id="17" idx="1"/>
          </p:cNvCxnSpPr>
          <p:nvPr/>
        </p:nvCxnSpPr>
        <p:spPr>
          <a:xfrm>
            <a:off x="5592552" y="3429002"/>
            <a:ext cx="283658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33CC1520-09AA-9051-0B6E-A73478E16768}"/>
              </a:ext>
            </a:extLst>
          </p:cNvPr>
          <p:cNvSpPr txBox="1"/>
          <p:nvPr/>
        </p:nvSpPr>
        <p:spPr>
          <a:xfrm>
            <a:off x="2730459" y="4920778"/>
            <a:ext cx="40204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L transformer blocks</a:t>
            </a:r>
          </a:p>
          <a:p>
            <a:pPr algn="ctr"/>
            <a:r>
              <a:rPr lang="en-US" sz="1600" dirty="0"/>
              <a:t>(</a:t>
            </a:r>
            <a:r>
              <a:rPr lang="en-US" sz="1600" i="1" dirty="0"/>
              <a:t>multi-headed self-attention + MLP</a:t>
            </a:r>
            <a:r>
              <a:rPr lang="en-US" sz="1600" dirty="0"/>
              <a:t>)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AA279E28-3DD2-12E5-9A9E-E3E443CD137C}"/>
              </a:ext>
            </a:extLst>
          </p:cNvPr>
          <p:cNvSpPr/>
          <p:nvPr/>
        </p:nvSpPr>
        <p:spPr>
          <a:xfrm>
            <a:off x="6953853" y="2766220"/>
            <a:ext cx="779449" cy="1325563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Linear + </a:t>
            </a:r>
            <a:r>
              <a:rPr lang="en-US" sz="1200" dirty="0" err="1"/>
              <a:t>Softmax</a:t>
            </a:r>
            <a:endParaRPr lang="en-US" sz="1200" dirty="0"/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B32ADB70-C629-75B3-1887-1F7BC063FF8A}"/>
              </a:ext>
            </a:extLst>
          </p:cNvPr>
          <p:cNvCxnSpPr>
            <a:cxnSpLocks/>
            <a:stCxn id="17" idx="3"/>
            <a:endCxn id="40" idx="1"/>
          </p:cNvCxnSpPr>
          <p:nvPr/>
        </p:nvCxnSpPr>
        <p:spPr>
          <a:xfrm>
            <a:off x="6546213" y="3429002"/>
            <a:ext cx="40764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B60F07B4-DC70-CC9B-7EAA-50CD36CF736C}"/>
              </a:ext>
            </a:extLst>
          </p:cNvPr>
          <p:cNvCxnSpPr>
            <a:cxnSpLocks/>
            <a:stCxn id="40" idx="3"/>
            <a:endCxn id="76" idx="1"/>
          </p:cNvCxnSpPr>
          <p:nvPr/>
        </p:nvCxnSpPr>
        <p:spPr>
          <a:xfrm flipV="1">
            <a:off x="7733302" y="3429000"/>
            <a:ext cx="228440" cy="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itle 1">
            <a:extLst>
              <a:ext uri="{FF2B5EF4-FFF2-40B4-BE49-F238E27FC236}">
                <a16:creationId xmlns:a16="http://schemas.microsoft.com/office/drawing/2014/main" id="{5A350985-2CAC-EED4-9626-95E0E84D464D}"/>
              </a:ext>
            </a:extLst>
          </p:cNvPr>
          <p:cNvSpPr txBox="1">
            <a:spLocks/>
          </p:cNvSpPr>
          <p:nvPr/>
        </p:nvSpPr>
        <p:spPr>
          <a:xfrm>
            <a:off x="288535" y="2947800"/>
            <a:ext cx="1317326" cy="9624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1200" dirty="0"/>
              <a:t>[The ][cat ]</a:t>
            </a:r>
          </a:p>
          <a:p>
            <a:r>
              <a:rPr lang="en-US" sz="1200" dirty="0"/>
              <a:t>[sat ][on ]</a:t>
            </a:r>
          </a:p>
          <a:p>
            <a:r>
              <a:rPr lang="en-US" sz="1200" dirty="0"/>
              <a:t>[the ]</a:t>
            </a:r>
          </a:p>
        </p:txBody>
      </p:sp>
      <p:graphicFrame>
        <p:nvGraphicFramePr>
          <p:cNvPr id="76" name="Table 75">
            <a:extLst>
              <a:ext uri="{FF2B5EF4-FFF2-40B4-BE49-F238E27FC236}">
                <a16:creationId xmlns:a16="http://schemas.microsoft.com/office/drawing/2014/main" id="{E0A56DE4-C477-E007-4C3F-27DED3B1F75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7233833"/>
              </p:ext>
            </p:extLst>
          </p:nvPr>
        </p:nvGraphicFramePr>
        <p:xfrm>
          <a:off x="7961742" y="2495532"/>
          <a:ext cx="1425032" cy="1866937"/>
        </p:xfrm>
        <a:graphic>
          <a:graphicData uri="http://schemas.openxmlformats.org/drawingml/2006/table">
            <a:tbl>
              <a:tblPr firstRow="1" bandRow="1">
                <a:tableStyleId>{D7AC3CCA-C797-4891-BE02-D94E43425B78}</a:tableStyleId>
              </a:tblPr>
              <a:tblGrid>
                <a:gridCol w="712516">
                  <a:extLst>
                    <a:ext uri="{9D8B030D-6E8A-4147-A177-3AD203B41FA5}">
                      <a16:colId xmlns:a16="http://schemas.microsoft.com/office/drawing/2014/main" val="3088844039"/>
                    </a:ext>
                  </a:extLst>
                </a:gridCol>
                <a:gridCol w="712516">
                  <a:extLst>
                    <a:ext uri="{9D8B030D-6E8A-4147-A177-3AD203B41FA5}">
                      <a16:colId xmlns:a16="http://schemas.microsoft.com/office/drawing/2014/main" val="3494540119"/>
                    </a:ext>
                  </a:extLst>
                </a:gridCol>
              </a:tblGrid>
              <a:tr h="383577">
                <a:tc>
                  <a:txBody>
                    <a:bodyPr/>
                    <a:lstStyle/>
                    <a:p>
                      <a:pPr algn="ctr"/>
                      <a:r>
                        <a:rPr lang="en-US" sz="1200" b="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...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49686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[dog ]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0.05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048071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[mat ]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0.82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482873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[lap ]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0.13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335424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78352348"/>
                  </a:ext>
                </a:extLst>
              </a:tr>
            </a:tbl>
          </a:graphicData>
        </a:graphic>
      </p:graphicFrame>
      <p:cxnSp>
        <p:nvCxnSpPr>
          <p:cNvPr id="123" name="Straight Arrow Connector 122">
            <a:extLst>
              <a:ext uri="{FF2B5EF4-FFF2-40B4-BE49-F238E27FC236}">
                <a16:creationId xmlns:a16="http://schemas.microsoft.com/office/drawing/2014/main" id="{3EE2B128-B7CD-A08C-5DD7-E8569186C36F}"/>
              </a:ext>
            </a:extLst>
          </p:cNvPr>
          <p:cNvCxnSpPr>
            <a:cxnSpLocks/>
            <a:endCxn id="8" idx="1"/>
          </p:cNvCxnSpPr>
          <p:nvPr/>
        </p:nvCxnSpPr>
        <p:spPr>
          <a:xfrm>
            <a:off x="1169310" y="3429003"/>
            <a:ext cx="602144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28" name="Title 1">
                <a:extLst>
                  <a:ext uri="{FF2B5EF4-FFF2-40B4-BE49-F238E27FC236}">
                    <a16:creationId xmlns:a16="http://schemas.microsoft.com/office/drawing/2014/main" id="{967EB4AE-1A5E-7108-23B0-BD17DB6B9ED9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90464" y="6179586"/>
                <a:ext cx="1174208" cy="340700"/>
              </a:xfrm>
              <a:prstGeom prst="rect">
                <a:avLst/>
              </a:prstGeom>
            </p:spPr>
            <p:txBody>
              <a:bodyPr vert="horz" lIns="91440" tIns="45720" rIns="91440" bIns="45720" rtlCol="0" anchor="ctr">
                <a:normAutofit/>
              </a:bodyPr>
              <a:lstStyle>
                <a:lvl1pPr algn="l" defTabSz="914400" rtl="0" eaLnBrk="1" latinLnBrk="0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4400" kern="1200">
                    <a:solidFill>
                      <a:schemeClr val="tx1"/>
                    </a:solidFill>
                    <a:latin typeface="+mj-lt"/>
                    <a:ea typeface="+mj-ea"/>
                    <a:cs typeface="+mj-cs"/>
                  </a:defRPr>
                </a:lvl1pPr>
              </a:lstStyle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GB" sz="1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GB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6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sz="16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GB" sz="1600" b="0" i="1" smtClean="0">
                              <a:latin typeface="Cambria Math" panose="02040503050406030204" pitchFamily="18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 lang="en-GB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6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sz="1600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GB" sz="1600" b="0" dirty="0"/>
              </a:p>
              <a:p>
                <a:endParaRPr lang="en-GB" sz="1600" b="0" dirty="0"/>
              </a:p>
              <a:p>
                <a:endParaRPr lang="en-US" sz="1600" dirty="0"/>
              </a:p>
            </p:txBody>
          </p:sp>
        </mc:Choice>
        <mc:Fallback>
          <p:sp>
            <p:nvSpPr>
              <p:cNvPr id="128" name="Title 1">
                <a:extLst>
                  <a:ext uri="{FF2B5EF4-FFF2-40B4-BE49-F238E27FC236}">
                    <a16:creationId xmlns:a16="http://schemas.microsoft.com/office/drawing/2014/main" id="{967EB4AE-1A5E-7108-23B0-BD17DB6B9E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0464" y="6179586"/>
                <a:ext cx="1174208" cy="340700"/>
              </a:xfrm>
              <a:prstGeom prst="rect">
                <a:avLst/>
              </a:prstGeom>
              <a:blipFill>
                <a:blip r:embed="rId7"/>
                <a:stretch>
                  <a:fillRect t="-392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9" name="Straight Arrow Connector 128">
            <a:extLst>
              <a:ext uri="{FF2B5EF4-FFF2-40B4-BE49-F238E27FC236}">
                <a16:creationId xmlns:a16="http://schemas.microsoft.com/office/drawing/2014/main" id="{70581AB8-2EDC-ADE1-ACD9-590FB2E110C9}"/>
              </a:ext>
            </a:extLst>
          </p:cNvPr>
          <p:cNvCxnSpPr>
            <a:cxnSpLocks/>
          </p:cNvCxnSpPr>
          <p:nvPr/>
        </p:nvCxnSpPr>
        <p:spPr>
          <a:xfrm>
            <a:off x="1822901" y="6135747"/>
            <a:ext cx="646572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30" name="Title 1">
                <a:extLst>
                  <a:ext uri="{FF2B5EF4-FFF2-40B4-BE49-F238E27FC236}">
                    <a16:creationId xmlns:a16="http://schemas.microsoft.com/office/drawing/2014/main" id="{1D881C91-1485-EB64-F333-15DC40F2B388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459161" y="6377956"/>
                <a:ext cx="1102088" cy="427333"/>
              </a:xfrm>
              <a:prstGeom prst="rect">
                <a:avLst/>
              </a:prstGeom>
            </p:spPr>
            <p:txBody>
              <a:bodyPr vert="horz" lIns="91440" tIns="45720" rIns="91440" bIns="45720" rtlCol="0" anchor="ctr">
                <a:normAutofit/>
              </a:bodyPr>
              <a:lstStyle>
                <a:lvl1pPr algn="l" defTabSz="914400" rtl="0" eaLnBrk="1" latinLnBrk="0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4400" kern="1200">
                    <a:solidFill>
                      <a:schemeClr val="tx1"/>
                    </a:solidFill>
                    <a:latin typeface="+mj-lt"/>
                    <a:ea typeface="+mj-ea"/>
                    <a:cs typeface="+mj-cs"/>
                  </a:defRPr>
                </a:lvl1pPr>
              </a:lstStyle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1600" b="0" i="1" smtClean="0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en-GB" sz="1600" b="0" i="1" smtClean="0">
                          <a:latin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lang="en-GB" sz="16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1600" b="0" i="1" smtClean="0">
                              <a:latin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lang="en-GB" sz="16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GB" sz="1600" b="0" i="1" smtClean="0">
                              <a:latin typeface="Cambria Math" panose="02040503050406030204" pitchFamily="18" charset="0"/>
                            </a:rPr>
                            <m:t>×</m:t>
                          </m:r>
                          <m:r>
                            <a:rPr lang="en-GB" sz="16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sup>
                      </m:sSup>
                    </m:oMath>
                  </m:oMathPara>
                </a14:m>
                <a:endParaRPr lang="en-GB" sz="1600" b="0" dirty="0"/>
              </a:p>
              <a:p>
                <a:endParaRPr lang="en-GB" sz="1600" b="0" dirty="0"/>
              </a:p>
              <a:p>
                <a:endParaRPr lang="en-GB" sz="1600" b="0" dirty="0"/>
              </a:p>
              <a:p>
                <a:endParaRPr lang="en-GB" sz="1600" b="0" dirty="0"/>
              </a:p>
              <a:p>
                <a:endParaRPr lang="en-US" sz="1600" dirty="0"/>
              </a:p>
            </p:txBody>
          </p:sp>
        </mc:Choice>
        <mc:Fallback>
          <p:sp>
            <p:nvSpPr>
              <p:cNvPr id="130" name="Title 1">
                <a:extLst>
                  <a:ext uri="{FF2B5EF4-FFF2-40B4-BE49-F238E27FC236}">
                    <a16:creationId xmlns:a16="http://schemas.microsoft.com/office/drawing/2014/main" id="{1D881C91-1485-EB64-F333-15DC40F2B3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59161" y="6377956"/>
                <a:ext cx="1102088" cy="427333"/>
              </a:xfrm>
              <a:prstGeom prst="rect">
                <a:avLst/>
              </a:prstGeom>
              <a:blipFill>
                <a:blip r:embed="rId8"/>
                <a:stretch>
                  <a:fillRect t="-8529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4" name="TextBox 133">
            <a:extLst>
              <a:ext uri="{FF2B5EF4-FFF2-40B4-BE49-F238E27FC236}">
                <a16:creationId xmlns:a16="http://schemas.microsoft.com/office/drawing/2014/main" id="{C43D3BBF-D374-C27A-6F36-B50E2A847244}"/>
              </a:ext>
            </a:extLst>
          </p:cNvPr>
          <p:cNvSpPr txBox="1"/>
          <p:nvPr/>
        </p:nvSpPr>
        <p:spPr>
          <a:xfrm>
            <a:off x="1810999" y="5836829"/>
            <a:ext cx="67037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Embed</a:t>
            </a:r>
          </a:p>
        </p:txBody>
      </p:sp>
      <p:cxnSp>
        <p:nvCxnSpPr>
          <p:cNvPr id="142" name="Straight Arrow Connector 141">
            <a:extLst>
              <a:ext uri="{FF2B5EF4-FFF2-40B4-BE49-F238E27FC236}">
                <a16:creationId xmlns:a16="http://schemas.microsoft.com/office/drawing/2014/main" id="{1CE90CF6-D509-F972-4A24-16FB19BA759D}"/>
              </a:ext>
            </a:extLst>
          </p:cNvPr>
          <p:cNvCxnSpPr>
            <a:cxnSpLocks/>
          </p:cNvCxnSpPr>
          <p:nvPr/>
        </p:nvCxnSpPr>
        <p:spPr>
          <a:xfrm>
            <a:off x="3487676" y="6135747"/>
            <a:ext cx="250640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45" name="Title 1">
                <a:extLst>
                  <a:ext uri="{FF2B5EF4-FFF2-40B4-BE49-F238E27FC236}">
                    <a16:creationId xmlns:a16="http://schemas.microsoft.com/office/drawing/2014/main" id="{6C847C2A-6604-B295-5BEB-41586D4CC50D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950988" y="6365134"/>
                <a:ext cx="1102088" cy="427333"/>
              </a:xfrm>
              <a:prstGeom prst="rect">
                <a:avLst/>
              </a:prstGeom>
            </p:spPr>
            <p:txBody>
              <a:bodyPr vert="horz" lIns="91440" tIns="45720" rIns="91440" bIns="45720" rtlCol="0" anchor="ctr">
                <a:normAutofit/>
              </a:bodyPr>
              <a:lstStyle>
                <a:lvl1pPr algn="l" defTabSz="914400" rtl="0" eaLnBrk="1" latinLnBrk="0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4400" kern="1200">
                    <a:solidFill>
                      <a:schemeClr val="tx1"/>
                    </a:solidFill>
                    <a:latin typeface="+mj-lt"/>
                    <a:ea typeface="+mj-ea"/>
                    <a:cs typeface="+mj-cs"/>
                  </a:defRPr>
                </a:lvl1pPr>
              </a:lstStyle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1600" b="0" i="1" smtClean="0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en-GB" sz="1600" b="0" i="1" smtClean="0">
                          <a:latin typeface="Cambria Math" panose="02040503050406030204" pitchFamily="18" charset="0"/>
                        </a:rPr>
                        <m:t>’∈</m:t>
                      </m:r>
                      <m:sSup>
                        <m:sSupPr>
                          <m:ctrlPr>
                            <a:rPr lang="en-GB" sz="16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1600" b="0" i="1" smtClean="0">
                              <a:latin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lang="en-GB" sz="16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GB" sz="1600" b="0" i="1" smtClean="0">
                              <a:latin typeface="Cambria Math" panose="02040503050406030204" pitchFamily="18" charset="0"/>
                            </a:rPr>
                            <m:t>×</m:t>
                          </m:r>
                          <m:r>
                            <a:rPr lang="en-GB" sz="16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sup>
                      </m:sSup>
                    </m:oMath>
                  </m:oMathPara>
                </a14:m>
                <a:endParaRPr lang="en-GB" sz="1600" b="0" dirty="0"/>
              </a:p>
              <a:p>
                <a:endParaRPr lang="en-GB" sz="1600" b="0" dirty="0"/>
              </a:p>
              <a:p>
                <a:endParaRPr lang="en-GB" sz="1600" b="0" dirty="0"/>
              </a:p>
              <a:p>
                <a:endParaRPr lang="en-GB" sz="1600" b="0" dirty="0"/>
              </a:p>
              <a:p>
                <a:endParaRPr lang="en-US" sz="1600" dirty="0"/>
              </a:p>
            </p:txBody>
          </p:sp>
        </mc:Choice>
        <mc:Fallback>
          <p:sp>
            <p:nvSpPr>
              <p:cNvPr id="145" name="Title 1">
                <a:extLst>
                  <a:ext uri="{FF2B5EF4-FFF2-40B4-BE49-F238E27FC236}">
                    <a16:creationId xmlns:a16="http://schemas.microsoft.com/office/drawing/2014/main" id="{6C847C2A-6604-B295-5BEB-41586D4CC5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50988" y="6365134"/>
                <a:ext cx="1102088" cy="427333"/>
              </a:xfrm>
              <a:prstGeom prst="rect">
                <a:avLst/>
              </a:prstGeom>
              <a:blipFill>
                <a:blip r:embed="rId9"/>
                <a:stretch>
                  <a:fillRect t="-8529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7" name="TextBox 146">
                <a:extLst>
                  <a:ext uri="{FF2B5EF4-FFF2-40B4-BE49-F238E27FC236}">
                    <a16:creationId xmlns:a16="http://schemas.microsoft.com/office/drawing/2014/main" id="{2B05E9D0-6FBF-EC31-7F38-FCFA40ADAA94}"/>
                  </a:ext>
                </a:extLst>
              </p:cNvPr>
              <p:cNvSpPr txBox="1"/>
              <p:nvPr/>
            </p:nvSpPr>
            <p:spPr>
              <a:xfrm>
                <a:off x="3561249" y="5765047"/>
                <a:ext cx="2314961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1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GB" sz="1200" i="0">
                              <a:latin typeface="Cambria Math" panose="02040503050406030204" pitchFamily="18" charset="0"/>
                            </a:rPr>
                            <m:t>MLP</m:t>
                          </m:r>
                        </m:e>
                        <m:sub>
                          <m:r>
                            <a:rPr lang="en-GB" sz="12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sub>
                      </m:sSub>
                      <m:r>
                        <a:rPr lang="en-GB" sz="1200" i="1">
                          <a:latin typeface="Cambria Math" panose="02040503050406030204" pitchFamily="18" charset="0"/>
                        </a:rPr>
                        <m:t>∘</m:t>
                      </m:r>
                      <m:sSub>
                        <m:sSubPr>
                          <m:ctrlPr>
                            <a:rPr lang="en-GB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GB" sz="1200" i="0">
                              <a:latin typeface="Cambria Math" panose="02040503050406030204" pitchFamily="18" charset="0"/>
                            </a:rPr>
                            <m:t>Att</m:t>
                          </m:r>
                          <m:r>
                            <m:rPr>
                              <m:nor/>
                            </m:rPr>
                            <a:rPr lang="en-GB" sz="1200" b="0" i="0" smtClean="0">
                              <a:latin typeface="Cambria Math" panose="02040503050406030204" pitchFamily="18" charset="0"/>
                            </a:rPr>
                            <m:t>n</m:t>
                          </m:r>
                        </m:e>
                        <m:sub>
                          <m:r>
                            <a:rPr lang="en-GB" sz="12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sub>
                      </m:sSub>
                      <m:r>
                        <a:rPr lang="en-GB" sz="1200" b="0" i="1" smtClean="0">
                          <a:latin typeface="Cambria Math" panose="02040503050406030204" pitchFamily="18" charset="0"/>
                        </a:rPr>
                        <m:t>∘…∘</m:t>
                      </m:r>
                      <m:sSub>
                        <m:sSubPr>
                          <m:ctrlPr>
                            <a:rPr lang="en-GB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GB" sz="1200" b="0" i="0" smtClean="0">
                              <a:latin typeface="Cambria Math" panose="02040503050406030204" pitchFamily="18" charset="0"/>
                            </a:rPr>
                            <m:t>MLP</m:t>
                          </m:r>
                        </m:e>
                        <m:sub>
                          <m:r>
                            <a:rPr lang="en-GB" sz="12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sz="1200" b="0" i="1" smtClean="0">
                          <a:latin typeface="Cambria Math" panose="02040503050406030204" pitchFamily="18" charset="0"/>
                        </a:rPr>
                        <m:t>∘</m:t>
                      </m:r>
                      <m:sSub>
                        <m:sSubPr>
                          <m:ctrlPr>
                            <a:rPr lang="en-GB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GB" sz="1200" b="0" i="0" smtClean="0">
                              <a:latin typeface="Cambria Math" panose="02040503050406030204" pitchFamily="18" charset="0"/>
                            </a:rPr>
                            <m:t>Attn</m:t>
                          </m:r>
                        </m:e>
                        <m:sub>
                          <m:r>
                            <a:rPr lang="en-GB" sz="12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GB" sz="1200" b="0" dirty="0"/>
              </a:p>
              <a:p>
                <a:endParaRPr lang="en-US" sz="1200" dirty="0"/>
              </a:p>
            </p:txBody>
          </p:sp>
        </mc:Choice>
        <mc:Fallback>
          <p:sp>
            <p:nvSpPr>
              <p:cNvPr id="147" name="TextBox 146">
                <a:extLst>
                  <a:ext uri="{FF2B5EF4-FFF2-40B4-BE49-F238E27FC236}">
                    <a16:creationId xmlns:a16="http://schemas.microsoft.com/office/drawing/2014/main" id="{2B05E9D0-6FBF-EC31-7F38-FCFA40ADAA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61249" y="5765047"/>
                <a:ext cx="2314961" cy="461665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9" name="Straight Arrow Connector 148">
            <a:extLst>
              <a:ext uri="{FF2B5EF4-FFF2-40B4-BE49-F238E27FC236}">
                <a16:creationId xmlns:a16="http://schemas.microsoft.com/office/drawing/2014/main" id="{E2ED5571-CE01-9E20-B4B1-F16555A4FC5D}"/>
              </a:ext>
            </a:extLst>
          </p:cNvPr>
          <p:cNvCxnSpPr>
            <a:cxnSpLocks/>
          </p:cNvCxnSpPr>
          <p:nvPr/>
        </p:nvCxnSpPr>
        <p:spPr>
          <a:xfrm>
            <a:off x="7012285" y="6135747"/>
            <a:ext cx="927255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2" name="TextBox 151">
            <a:extLst>
              <a:ext uri="{FF2B5EF4-FFF2-40B4-BE49-F238E27FC236}">
                <a16:creationId xmlns:a16="http://schemas.microsoft.com/office/drawing/2014/main" id="{037EC3C2-A473-E501-4FD6-A37EC07F0068}"/>
              </a:ext>
            </a:extLst>
          </p:cNvPr>
          <p:cNvSpPr txBox="1"/>
          <p:nvPr/>
        </p:nvSpPr>
        <p:spPr>
          <a:xfrm>
            <a:off x="6860488" y="5603426"/>
            <a:ext cx="118950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200" dirty="0"/>
              <a:t>Linear + </a:t>
            </a:r>
            <a:r>
              <a:rPr lang="en-US" sz="1200" dirty="0" err="1"/>
              <a:t>Softmax</a:t>
            </a:r>
            <a:endParaRPr lang="en-US" sz="12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56" name="Title 1">
                <a:extLst>
                  <a:ext uri="{FF2B5EF4-FFF2-40B4-BE49-F238E27FC236}">
                    <a16:creationId xmlns:a16="http://schemas.microsoft.com/office/drawing/2014/main" id="{9D284395-0D47-05EA-284B-712EA9E98F04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343577" y="6336477"/>
                <a:ext cx="2761613" cy="640885"/>
              </a:xfrm>
              <a:prstGeom prst="rect">
                <a:avLst/>
              </a:prstGeom>
            </p:spPr>
            <p:txBody>
              <a:bodyPr vert="horz" lIns="91440" tIns="45720" rIns="91440" bIns="45720" rtlCol="0" anchor="ctr">
                <a:normAutofit/>
              </a:bodyPr>
              <a:lstStyle>
                <a:lvl1pPr algn="l" defTabSz="914400" rtl="0" eaLnBrk="1" latinLnBrk="0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4400" kern="1200">
                    <a:solidFill>
                      <a:schemeClr val="tx1"/>
                    </a:solidFill>
                    <a:latin typeface="+mj-lt"/>
                    <a:ea typeface="+mj-ea"/>
                    <a:cs typeface="+mj-cs"/>
                  </a:defRPr>
                </a:lvl1pPr>
              </a:lstStyle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160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GB" sz="1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GB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6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sz="1600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  <m:r>
                                <a:rPr lang="en-GB" sz="1600" b="0" i="1" smtClean="0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</m:e>
                        <m:e>
                          <m:sSub>
                            <m:sSubPr>
                              <m:ctrlPr>
                                <a:rPr lang="en-GB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6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sz="16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GB" sz="1600" b="0" i="1" smtClean="0">
                              <a:latin typeface="Cambria Math" panose="02040503050406030204" pitchFamily="18" charset="0"/>
                            </a:rPr>
                            <m:t>…</m:t>
                          </m:r>
                          <m:sSub>
                            <m:sSubPr>
                              <m:ctrlPr>
                                <a:rPr lang="en-GB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6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sz="1600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GB" sz="1600" b="0" dirty="0"/>
              </a:p>
              <a:p>
                <a:endParaRPr lang="en-GB" sz="1600" b="0" dirty="0"/>
              </a:p>
              <a:p>
                <a:endParaRPr lang="en-GB" sz="1600" b="0" dirty="0"/>
              </a:p>
              <a:p>
                <a:endParaRPr lang="en-GB" sz="1600" b="0" dirty="0"/>
              </a:p>
              <a:p>
                <a:endParaRPr lang="en-GB" sz="1600" b="0" dirty="0"/>
              </a:p>
              <a:p>
                <a:endParaRPr lang="en-US" sz="1600" dirty="0"/>
              </a:p>
            </p:txBody>
          </p:sp>
        </mc:Choice>
        <mc:Fallback>
          <p:sp>
            <p:nvSpPr>
              <p:cNvPr id="156" name="Title 1">
                <a:extLst>
                  <a:ext uri="{FF2B5EF4-FFF2-40B4-BE49-F238E27FC236}">
                    <a16:creationId xmlns:a16="http://schemas.microsoft.com/office/drawing/2014/main" id="{9D284395-0D47-05EA-284B-712EA9E98F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43577" y="6336477"/>
                <a:ext cx="2761613" cy="640885"/>
              </a:xfrm>
              <a:prstGeom prst="rect">
                <a:avLst/>
              </a:prstGeom>
              <a:blipFill>
                <a:blip r:embed="rId11"/>
                <a:stretch>
                  <a:fillRect t="-4615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8" name="Title 1">
            <a:extLst>
              <a:ext uri="{FF2B5EF4-FFF2-40B4-BE49-F238E27FC236}">
                <a16:creationId xmlns:a16="http://schemas.microsoft.com/office/drawing/2014/main" id="{B5AAAF2A-5BFE-02AC-B506-F9DC9B32B3F8}"/>
              </a:ext>
            </a:extLst>
          </p:cNvPr>
          <p:cNvSpPr txBox="1">
            <a:spLocks/>
          </p:cNvSpPr>
          <p:nvPr/>
        </p:nvSpPr>
        <p:spPr>
          <a:xfrm>
            <a:off x="297031" y="3429000"/>
            <a:ext cx="1587620" cy="9624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1200" i="1" dirty="0">
                <a:solidFill>
                  <a:schemeClr val="tx1">
                    <a:lumMod val="50000"/>
                  </a:schemeClr>
                </a:solidFill>
              </a:rPr>
              <a:t>[mat ] held out</a:t>
            </a:r>
          </a:p>
        </p:txBody>
      </p:sp>
      <p:cxnSp>
        <p:nvCxnSpPr>
          <p:cNvPr id="159" name="Straight Arrow Connector 158">
            <a:extLst>
              <a:ext uri="{FF2B5EF4-FFF2-40B4-BE49-F238E27FC236}">
                <a16:creationId xmlns:a16="http://schemas.microsoft.com/office/drawing/2014/main" id="{7F978EDC-8887-E04F-15B0-270C726315FD}"/>
              </a:ext>
            </a:extLst>
          </p:cNvPr>
          <p:cNvCxnSpPr>
            <a:cxnSpLocks/>
          </p:cNvCxnSpPr>
          <p:nvPr/>
        </p:nvCxnSpPr>
        <p:spPr>
          <a:xfrm>
            <a:off x="9386774" y="3403911"/>
            <a:ext cx="525322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61" name="TextBox 160">
                <a:extLst>
                  <a:ext uri="{FF2B5EF4-FFF2-40B4-BE49-F238E27FC236}">
                    <a16:creationId xmlns:a16="http://schemas.microsoft.com/office/drawing/2014/main" id="{36E38273-5BCB-2643-9374-8ADB535E92A8}"/>
                  </a:ext>
                </a:extLst>
              </p:cNvPr>
              <p:cNvSpPr txBox="1"/>
              <p:nvPr/>
            </p:nvSpPr>
            <p:spPr>
              <a:xfrm>
                <a:off x="9990278" y="3144256"/>
                <a:ext cx="1780937" cy="51930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200" b="0" i="1" smtClean="0">
                              <a:latin typeface="Cambria Math" panose="02040503050406030204" pitchFamily="18" charset="0"/>
                            </a:rPr>
                            <m:t>ℒ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1200" b="0" i="1" smtClean="0">
                              <a:latin typeface="Cambria Math" panose="02040503050406030204" pitchFamily="18" charset="0"/>
                            </a:rPr>
                            <m:t>NLL</m:t>
                          </m:r>
                        </m:sub>
                      </m:sSub>
                      <m:r>
                        <a:rPr lang="en-GB" sz="1200" b="0" i="1" smtClean="0">
                          <a:latin typeface="Cambria Math" panose="02040503050406030204" pitchFamily="18" charset="0"/>
                        </a:rPr>
                        <m:t>=−</m:t>
                      </m:r>
                      <m:nary>
                        <m:naryPr>
                          <m:chr m:val="∑"/>
                          <m:ctrlPr>
                            <a:rPr lang="en-GB" sz="1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GB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GB" sz="1200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GB" sz="12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  <m:e>
                          <m:func>
                            <m:funcPr>
                              <m:ctrlPr>
                                <a:rPr lang="en-GB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GB" sz="1200"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fName>
                            <m:e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  <m:d>
                                <m:dPr>
                                  <m:ctrlP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</m:e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&lt;</m:t>
                                      </m:r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func>
                        </m:e>
                      </m:nary>
                    </m:oMath>
                  </m:oMathPara>
                </a14:m>
                <a:endParaRPr lang="en-US" sz="1200" dirty="0"/>
              </a:p>
            </p:txBody>
          </p:sp>
        </mc:Choice>
        <mc:Fallback>
          <p:sp>
            <p:nvSpPr>
              <p:cNvPr id="161" name="TextBox 160">
                <a:extLst>
                  <a:ext uri="{FF2B5EF4-FFF2-40B4-BE49-F238E27FC236}">
                    <a16:creationId xmlns:a16="http://schemas.microsoft.com/office/drawing/2014/main" id="{36E38273-5BCB-2643-9374-8ADB535E92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90278" y="3144256"/>
                <a:ext cx="1780937" cy="519309"/>
              </a:xfrm>
              <a:prstGeom prst="rect">
                <a:avLst/>
              </a:prstGeom>
              <a:blipFill>
                <a:blip r:embed="rId12"/>
                <a:stretch>
                  <a:fillRect l="-1418" t="-111905" b="-17381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63" name="Elbow Connector 162">
            <a:extLst>
              <a:ext uri="{FF2B5EF4-FFF2-40B4-BE49-F238E27FC236}">
                <a16:creationId xmlns:a16="http://schemas.microsoft.com/office/drawing/2014/main" id="{54029A8C-D0AB-93DB-DAD7-21C56E4C1CE5}"/>
              </a:ext>
            </a:extLst>
          </p:cNvPr>
          <p:cNvCxnSpPr>
            <a:stCxn id="161" idx="0"/>
            <a:endCxn id="14" idx="0"/>
          </p:cNvCxnSpPr>
          <p:nvPr/>
        </p:nvCxnSpPr>
        <p:spPr>
          <a:xfrm rot="16200000" flipV="1">
            <a:off x="6643886" y="-1092606"/>
            <a:ext cx="819225" cy="7654499"/>
          </a:xfrm>
          <a:prstGeom prst="bentConnector3">
            <a:avLst>
              <a:gd name="adj1" fmla="val 198223"/>
            </a:avLst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7" name="Elbow Connector 166">
            <a:extLst>
              <a:ext uri="{FF2B5EF4-FFF2-40B4-BE49-F238E27FC236}">
                <a16:creationId xmlns:a16="http://schemas.microsoft.com/office/drawing/2014/main" id="{2A785CEA-DB1A-BF04-7A9D-375EE2A0565D}"/>
              </a:ext>
            </a:extLst>
          </p:cNvPr>
          <p:cNvCxnSpPr>
            <a:cxnSpLocks/>
            <a:endCxn id="15" idx="0"/>
          </p:cNvCxnSpPr>
          <p:nvPr/>
        </p:nvCxnSpPr>
        <p:spPr>
          <a:xfrm rot="10800000">
            <a:off x="4197824" y="2325033"/>
            <a:ext cx="6682924" cy="815077"/>
          </a:xfrm>
          <a:prstGeom prst="bentConnector4">
            <a:avLst>
              <a:gd name="adj1" fmla="val 16"/>
              <a:gd name="adj2" fmla="val 198723"/>
            </a:avLst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" name="Elbow Connector 173">
            <a:extLst>
              <a:ext uri="{FF2B5EF4-FFF2-40B4-BE49-F238E27FC236}">
                <a16:creationId xmlns:a16="http://schemas.microsoft.com/office/drawing/2014/main" id="{50F02DC3-46DA-390A-C247-2ED5EC2FCB59}"/>
              </a:ext>
            </a:extLst>
          </p:cNvPr>
          <p:cNvCxnSpPr>
            <a:stCxn id="161" idx="0"/>
            <a:endCxn id="16" idx="0"/>
          </p:cNvCxnSpPr>
          <p:nvPr/>
        </p:nvCxnSpPr>
        <p:spPr>
          <a:xfrm rot="16200000" flipV="1">
            <a:off x="7659537" y="-76954"/>
            <a:ext cx="819225" cy="5623196"/>
          </a:xfrm>
          <a:prstGeom prst="bentConnector3">
            <a:avLst>
              <a:gd name="adj1" fmla="val 198223"/>
            </a:avLst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7" name="Elbow Connector 176">
            <a:extLst>
              <a:ext uri="{FF2B5EF4-FFF2-40B4-BE49-F238E27FC236}">
                <a16:creationId xmlns:a16="http://schemas.microsoft.com/office/drawing/2014/main" id="{36B14591-7267-0C10-F383-3743E369D3ED}"/>
              </a:ext>
            </a:extLst>
          </p:cNvPr>
          <p:cNvCxnSpPr>
            <a:stCxn id="161" idx="0"/>
            <a:endCxn id="17" idx="0"/>
          </p:cNvCxnSpPr>
          <p:nvPr/>
        </p:nvCxnSpPr>
        <p:spPr>
          <a:xfrm rot="16200000" flipV="1">
            <a:off x="8136368" y="399876"/>
            <a:ext cx="819225" cy="4669535"/>
          </a:xfrm>
          <a:prstGeom prst="bentConnector3">
            <a:avLst>
              <a:gd name="adj1" fmla="val 198223"/>
            </a:avLst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9" name="TextBox 178">
            <a:extLst>
              <a:ext uri="{FF2B5EF4-FFF2-40B4-BE49-F238E27FC236}">
                <a16:creationId xmlns:a16="http://schemas.microsoft.com/office/drawing/2014/main" id="{C1A51777-E263-ED2D-0EB4-CDB6A12E342C}"/>
              </a:ext>
            </a:extLst>
          </p:cNvPr>
          <p:cNvSpPr txBox="1"/>
          <p:nvPr/>
        </p:nvSpPr>
        <p:spPr>
          <a:xfrm>
            <a:off x="7012285" y="1557911"/>
            <a:ext cx="4020480" cy="338554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Backpropagation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83" name="Rounded Rectangle 182">
                <a:extLst>
                  <a:ext uri="{FF2B5EF4-FFF2-40B4-BE49-F238E27FC236}">
                    <a16:creationId xmlns:a16="http://schemas.microsoft.com/office/drawing/2014/main" id="{3AF4AAD9-C0BB-DE8C-A36A-DF8A0B8D3639}"/>
                  </a:ext>
                </a:extLst>
              </p:cNvPr>
              <p:cNvSpPr/>
              <p:nvPr/>
            </p:nvSpPr>
            <p:spPr>
              <a:xfrm>
                <a:off x="3010205" y="2409674"/>
                <a:ext cx="436684" cy="356546"/>
              </a:xfrm>
              <a:prstGeom prst="round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1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sz="1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sub>
                      </m:sSub>
                    </m:oMath>
                  </m:oMathPara>
                </a14:m>
                <a:endParaRPr lang="en-GB" sz="1200" b="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183" name="Rounded Rectangle 182">
                <a:extLst>
                  <a:ext uri="{FF2B5EF4-FFF2-40B4-BE49-F238E27FC236}">
                    <a16:creationId xmlns:a16="http://schemas.microsoft.com/office/drawing/2014/main" id="{3AF4AAD9-C0BB-DE8C-A36A-DF8A0B8D363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10205" y="2409674"/>
                <a:ext cx="436684" cy="356546"/>
              </a:xfrm>
              <a:prstGeom prst="roundRect">
                <a:avLst/>
              </a:prstGeom>
              <a:blipFill>
                <a:blip r:embed="rId13"/>
                <a:stretch>
                  <a:fillRect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84" name="Rounded Rectangle 183">
                <a:extLst>
                  <a:ext uri="{FF2B5EF4-FFF2-40B4-BE49-F238E27FC236}">
                    <a16:creationId xmlns:a16="http://schemas.microsoft.com/office/drawing/2014/main" id="{A56E0B18-756F-E4B2-2353-6D23D9B5074E}"/>
                  </a:ext>
                </a:extLst>
              </p:cNvPr>
              <p:cNvSpPr/>
              <p:nvPr/>
            </p:nvSpPr>
            <p:spPr>
              <a:xfrm>
                <a:off x="3010205" y="2882798"/>
                <a:ext cx="436684" cy="356546"/>
              </a:xfrm>
              <a:prstGeom prst="round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1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sz="1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𝐾</m:t>
                          </m:r>
                        </m:sub>
                      </m:sSub>
                    </m:oMath>
                  </m:oMathPara>
                </a14:m>
                <a:endParaRPr lang="en-GB" sz="1200" b="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184" name="Rounded Rectangle 183">
                <a:extLst>
                  <a:ext uri="{FF2B5EF4-FFF2-40B4-BE49-F238E27FC236}">
                    <a16:creationId xmlns:a16="http://schemas.microsoft.com/office/drawing/2014/main" id="{A56E0B18-756F-E4B2-2353-6D23D9B5074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10205" y="2882798"/>
                <a:ext cx="436684" cy="356546"/>
              </a:xfrm>
              <a:prstGeom prst="roundRect">
                <a:avLst/>
              </a:prstGeom>
              <a:blipFill>
                <a:blip r:embed="rId14"/>
                <a:stretch>
                  <a:fillRect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85" name="Rounded Rectangle 184">
                <a:extLst>
                  <a:ext uri="{FF2B5EF4-FFF2-40B4-BE49-F238E27FC236}">
                    <a16:creationId xmlns:a16="http://schemas.microsoft.com/office/drawing/2014/main" id="{3DA71191-2199-EFF6-D480-1A4DC05D0216}"/>
                  </a:ext>
                </a:extLst>
              </p:cNvPr>
              <p:cNvSpPr/>
              <p:nvPr/>
            </p:nvSpPr>
            <p:spPr>
              <a:xfrm>
                <a:off x="3001564" y="3627034"/>
                <a:ext cx="436684" cy="356546"/>
              </a:xfrm>
              <a:prstGeom prst="round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1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sz="1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𝑉</m:t>
                          </m:r>
                        </m:sub>
                      </m:sSub>
                    </m:oMath>
                  </m:oMathPara>
                </a14:m>
                <a:endParaRPr lang="en-GB" sz="1200" b="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185" name="Rounded Rectangle 184">
                <a:extLst>
                  <a:ext uri="{FF2B5EF4-FFF2-40B4-BE49-F238E27FC236}">
                    <a16:creationId xmlns:a16="http://schemas.microsoft.com/office/drawing/2014/main" id="{3DA71191-2199-EFF6-D480-1A4DC05D021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01564" y="3627034"/>
                <a:ext cx="436684" cy="356546"/>
              </a:xfrm>
              <a:prstGeom prst="roundRect">
                <a:avLst/>
              </a:prstGeom>
              <a:blipFill>
                <a:blip r:embed="rId15"/>
                <a:stretch>
                  <a:fillRect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86" name="Rounded Rectangle 185">
                <a:extLst>
                  <a:ext uri="{FF2B5EF4-FFF2-40B4-BE49-F238E27FC236}">
                    <a16:creationId xmlns:a16="http://schemas.microsoft.com/office/drawing/2014/main" id="{680F4D6C-D43D-E079-181B-BA2D3C562328}"/>
                  </a:ext>
                </a:extLst>
              </p:cNvPr>
              <p:cNvSpPr/>
              <p:nvPr/>
            </p:nvSpPr>
            <p:spPr>
              <a:xfrm>
                <a:off x="3001564" y="4080003"/>
                <a:ext cx="436684" cy="356546"/>
              </a:xfrm>
              <a:prstGeom prst="round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1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sz="1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𝑂</m:t>
                          </m:r>
                        </m:sub>
                      </m:sSub>
                    </m:oMath>
                  </m:oMathPara>
                </a14:m>
                <a:endParaRPr lang="en-GB" sz="1200" b="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186" name="Rounded Rectangle 185">
                <a:extLst>
                  <a:ext uri="{FF2B5EF4-FFF2-40B4-BE49-F238E27FC236}">
                    <a16:creationId xmlns:a16="http://schemas.microsoft.com/office/drawing/2014/main" id="{680F4D6C-D43D-E079-181B-BA2D3C56232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01564" y="4080003"/>
                <a:ext cx="436684" cy="356546"/>
              </a:xfrm>
              <a:prstGeom prst="roundRect">
                <a:avLst/>
              </a:prstGeom>
              <a:blipFill>
                <a:blip r:embed="rId16"/>
                <a:stretch>
                  <a:fillRect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87" name="Rounded Rectangle 186">
                <a:extLst>
                  <a:ext uri="{FF2B5EF4-FFF2-40B4-BE49-F238E27FC236}">
                    <a16:creationId xmlns:a16="http://schemas.microsoft.com/office/drawing/2014/main" id="{F21A53D7-A13C-DC55-CBC0-D11329FFE3C9}"/>
                  </a:ext>
                </a:extLst>
              </p:cNvPr>
              <p:cNvSpPr/>
              <p:nvPr/>
            </p:nvSpPr>
            <p:spPr>
              <a:xfrm>
                <a:off x="5047426" y="2409674"/>
                <a:ext cx="436684" cy="356546"/>
              </a:xfrm>
              <a:prstGeom prst="round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1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sz="1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sub>
                      </m:sSub>
                    </m:oMath>
                  </m:oMathPara>
                </a14:m>
                <a:endParaRPr lang="en-GB" sz="1200" b="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187" name="Rounded Rectangle 186">
                <a:extLst>
                  <a:ext uri="{FF2B5EF4-FFF2-40B4-BE49-F238E27FC236}">
                    <a16:creationId xmlns:a16="http://schemas.microsoft.com/office/drawing/2014/main" id="{F21A53D7-A13C-DC55-CBC0-D11329FFE3C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47426" y="2409674"/>
                <a:ext cx="436684" cy="356546"/>
              </a:xfrm>
              <a:prstGeom prst="roundRect">
                <a:avLst/>
              </a:prstGeom>
              <a:blipFill>
                <a:blip r:embed="rId17"/>
                <a:stretch>
                  <a:fillRect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88" name="Rounded Rectangle 187">
                <a:extLst>
                  <a:ext uri="{FF2B5EF4-FFF2-40B4-BE49-F238E27FC236}">
                    <a16:creationId xmlns:a16="http://schemas.microsoft.com/office/drawing/2014/main" id="{1BA5148B-3719-E4D8-3F23-A2AA58832F14}"/>
                  </a:ext>
                </a:extLst>
              </p:cNvPr>
              <p:cNvSpPr/>
              <p:nvPr/>
            </p:nvSpPr>
            <p:spPr>
              <a:xfrm>
                <a:off x="5047426" y="2882798"/>
                <a:ext cx="436684" cy="356546"/>
              </a:xfrm>
              <a:prstGeom prst="round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1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sz="1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𝐾</m:t>
                          </m:r>
                        </m:sub>
                      </m:sSub>
                    </m:oMath>
                  </m:oMathPara>
                </a14:m>
                <a:endParaRPr lang="en-GB" sz="1200" b="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188" name="Rounded Rectangle 187">
                <a:extLst>
                  <a:ext uri="{FF2B5EF4-FFF2-40B4-BE49-F238E27FC236}">
                    <a16:creationId xmlns:a16="http://schemas.microsoft.com/office/drawing/2014/main" id="{1BA5148B-3719-E4D8-3F23-A2AA58832F1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47426" y="2882798"/>
                <a:ext cx="436684" cy="356546"/>
              </a:xfrm>
              <a:prstGeom prst="roundRect">
                <a:avLst/>
              </a:prstGeom>
              <a:blipFill>
                <a:blip r:embed="rId18"/>
                <a:stretch>
                  <a:fillRect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89" name="Rounded Rectangle 188">
                <a:extLst>
                  <a:ext uri="{FF2B5EF4-FFF2-40B4-BE49-F238E27FC236}">
                    <a16:creationId xmlns:a16="http://schemas.microsoft.com/office/drawing/2014/main" id="{73B77944-7342-3549-33C4-441716788A2F}"/>
                  </a:ext>
                </a:extLst>
              </p:cNvPr>
              <p:cNvSpPr/>
              <p:nvPr/>
            </p:nvSpPr>
            <p:spPr>
              <a:xfrm>
                <a:off x="5038785" y="3627034"/>
                <a:ext cx="436684" cy="356546"/>
              </a:xfrm>
              <a:prstGeom prst="round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1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sz="1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𝑉</m:t>
                          </m:r>
                        </m:sub>
                      </m:sSub>
                    </m:oMath>
                  </m:oMathPara>
                </a14:m>
                <a:endParaRPr lang="en-GB" sz="1200" b="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189" name="Rounded Rectangle 188">
                <a:extLst>
                  <a:ext uri="{FF2B5EF4-FFF2-40B4-BE49-F238E27FC236}">
                    <a16:creationId xmlns:a16="http://schemas.microsoft.com/office/drawing/2014/main" id="{73B77944-7342-3549-33C4-441716788A2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38785" y="3627034"/>
                <a:ext cx="436684" cy="356546"/>
              </a:xfrm>
              <a:prstGeom prst="roundRect">
                <a:avLst/>
              </a:prstGeom>
              <a:blipFill>
                <a:blip r:embed="rId19"/>
                <a:stretch>
                  <a:fillRect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90" name="Rounded Rectangle 189">
                <a:extLst>
                  <a:ext uri="{FF2B5EF4-FFF2-40B4-BE49-F238E27FC236}">
                    <a16:creationId xmlns:a16="http://schemas.microsoft.com/office/drawing/2014/main" id="{FD895957-C75F-D92E-E65C-48818750088F}"/>
                  </a:ext>
                </a:extLst>
              </p:cNvPr>
              <p:cNvSpPr/>
              <p:nvPr/>
            </p:nvSpPr>
            <p:spPr>
              <a:xfrm>
                <a:off x="5038785" y="4080003"/>
                <a:ext cx="436684" cy="356546"/>
              </a:xfrm>
              <a:prstGeom prst="round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1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sz="1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𝑂</m:t>
                          </m:r>
                        </m:sub>
                      </m:sSub>
                    </m:oMath>
                  </m:oMathPara>
                </a14:m>
                <a:endParaRPr lang="en-GB" sz="1200" b="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190" name="Rounded Rectangle 189">
                <a:extLst>
                  <a:ext uri="{FF2B5EF4-FFF2-40B4-BE49-F238E27FC236}">
                    <a16:creationId xmlns:a16="http://schemas.microsoft.com/office/drawing/2014/main" id="{FD895957-C75F-D92E-E65C-48818750088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38785" y="4080003"/>
                <a:ext cx="436684" cy="356546"/>
              </a:xfrm>
              <a:prstGeom prst="roundRect">
                <a:avLst/>
              </a:prstGeom>
              <a:blipFill>
                <a:blip r:embed="rId20"/>
                <a:stretch>
                  <a:fillRect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95" name="Rounded Rectangle 194">
                <a:extLst>
                  <a:ext uri="{FF2B5EF4-FFF2-40B4-BE49-F238E27FC236}">
                    <a16:creationId xmlns:a16="http://schemas.microsoft.com/office/drawing/2014/main" id="{13D9E6AC-FD5B-09B4-4D55-033C3F14991E}"/>
                  </a:ext>
                </a:extLst>
              </p:cNvPr>
              <p:cNvSpPr/>
              <p:nvPr/>
            </p:nvSpPr>
            <p:spPr>
              <a:xfrm>
                <a:off x="3985178" y="2409674"/>
                <a:ext cx="436684" cy="901258"/>
              </a:xfrm>
              <a:prstGeom prst="round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1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sz="1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↑</m:t>
                          </m:r>
                        </m:sub>
                      </m:sSub>
                    </m:oMath>
                  </m:oMathPara>
                </a14:m>
                <a:endParaRPr lang="en-GB" sz="1200" b="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195" name="Rounded Rectangle 194">
                <a:extLst>
                  <a:ext uri="{FF2B5EF4-FFF2-40B4-BE49-F238E27FC236}">
                    <a16:creationId xmlns:a16="http://schemas.microsoft.com/office/drawing/2014/main" id="{13D9E6AC-FD5B-09B4-4D55-033C3F14991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85178" y="2409674"/>
                <a:ext cx="436684" cy="901258"/>
              </a:xfrm>
              <a:prstGeom prst="roundRect">
                <a:avLst/>
              </a:prstGeom>
              <a:blipFill>
                <a:blip r:embed="rId21"/>
                <a:stretch>
                  <a:fillRect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96" name="Rounded Rectangle 195">
                <a:extLst>
                  <a:ext uri="{FF2B5EF4-FFF2-40B4-BE49-F238E27FC236}">
                    <a16:creationId xmlns:a16="http://schemas.microsoft.com/office/drawing/2014/main" id="{0B082AEE-763D-9375-D8D9-F5BEBEC72D15}"/>
                  </a:ext>
                </a:extLst>
              </p:cNvPr>
              <p:cNvSpPr/>
              <p:nvPr/>
            </p:nvSpPr>
            <p:spPr>
              <a:xfrm>
                <a:off x="3985178" y="3570426"/>
                <a:ext cx="436684" cy="901258"/>
              </a:xfrm>
              <a:prstGeom prst="round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1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↓</m:t>
                          </m:r>
                        </m:sub>
                      </m:sSub>
                    </m:oMath>
                  </m:oMathPara>
                </a14:m>
                <a:endParaRPr lang="en-GB" sz="1200" b="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196" name="Rounded Rectangle 195">
                <a:extLst>
                  <a:ext uri="{FF2B5EF4-FFF2-40B4-BE49-F238E27FC236}">
                    <a16:creationId xmlns:a16="http://schemas.microsoft.com/office/drawing/2014/main" id="{0B082AEE-763D-9375-D8D9-F5BEBEC72D1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85178" y="3570426"/>
                <a:ext cx="436684" cy="901258"/>
              </a:xfrm>
              <a:prstGeom prst="roundRect">
                <a:avLst/>
              </a:prstGeom>
              <a:blipFill>
                <a:blip r:embed="rId22"/>
                <a:stretch>
                  <a:fillRect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97" name="Rounded Rectangle 196">
                <a:extLst>
                  <a:ext uri="{FF2B5EF4-FFF2-40B4-BE49-F238E27FC236}">
                    <a16:creationId xmlns:a16="http://schemas.microsoft.com/office/drawing/2014/main" id="{C6476E3C-CF75-2CA2-3B1E-BA7421DE445E}"/>
                  </a:ext>
                </a:extLst>
              </p:cNvPr>
              <p:cNvSpPr/>
              <p:nvPr/>
            </p:nvSpPr>
            <p:spPr>
              <a:xfrm>
                <a:off x="5991333" y="2395691"/>
                <a:ext cx="436684" cy="901258"/>
              </a:xfrm>
              <a:prstGeom prst="round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1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sz="1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↑</m:t>
                          </m:r>
                        </m:sub>
                      </m:sSub>
                    </m:oMath>
                  </m:oMathPara>
                </a14:m>
                <a:endParaRPr lang="en-GB" sz="1200" b="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197" name="Rounded Rectangle 196">
                <a:extLst>
                  <a:ext uri="{FF2B5EF4-FFF2-40B4-BE49-F238E27FC236}">
                    <a16:creationId xmlns:a16="http://schemas.microsoft.com/office/drawing/2014/main" id="{C6476E3C-CF75-2CA2-3B1E-BA7421DE445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91333" y="2395691"/>
                <a:ext cx="436684" cy="901258"/>
              </a:xfrm>
              <a:prstGeom prst="roundRect">
                <a:avLst/>
              </a:prstGeom>
              <a:blipFill>
                <a:blip r:embed="rId23"/>
                <a:stretch>
                  <a:fillRect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98" name="Rounded Rectangle 197">
                <a:extLst>
                  <a:ext uri="{FF2B5EF4-FFF2-40B4-BE49-F238E27FC236}">
                    <a16:creationId xmlns:a16="http://schemas.microsoft.com/office/drawing/2014/main" id="{8FCEB577-4F70-FB07-2637-4E76EFAF3621}"/>
                  </a:ext>
                </a:extLst>
              </p:cNvPr>
              <p:cNvSpPr/>
              <p:nvPr/>
            </p:nvSpPr>
            <p:spPr>
              <a:xfrm>
                <a:off x="5991333" y="3556443"/>
                <a:ext cx="436684" cy="901258"/>
              </a:xfrm>
              <a:prstGeom prst="round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1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↓</m:t>
                          </m:r>
                        </m:sub>
                      </m:sSub>
                    </m:oMath>
                  </m:oMathPara>
                </a14:m>
                <a:endParaRPr lang="en-GB" sz="1200" b="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198" name="Rounded Rectangle 197">
                <a:extLst>
                  <a:ext uri="{FF2B5EF4-FFF2-40B4-BE49-F238E27FC236}">
                    <a16:creationId xmlns:a16="http://schemas.microsoft.com/office/drawing/2014/main" id="{8FCEB577-4F70-FB07-2637-4E76EFAF362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91333" y="3556443"/>
                <a:ext cx="436684" cy="901258"/>
              </a:xfrm>
              <a:prstGeom prst="roundRect">
                <a:avLst/>
              </a:prstGeom>
              <a:blipFill>
                <a:blip r:embed="rId24"/>
                <a:stretch>
                  <a:fillRect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890255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9" fill="hold">
                      <p:stCondLst>
                        <p:cond delay="indefinite"/>
                      </p:stCondLst>
                      <p:childTnLst>
                        <p:par>
                          <p:cTn id="90" fill="hold">
                            <p:stCondLst>
                              <p:cond delay="0"/>
                            </p:stCondLst>
                            <p:childTnLst>
                              <p:par>
                                <p:cTn id="9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 animBg="1"/>
      <p:bldP spid="8" grpId="0" animBg="1"/>
      <p:bldP spid="14" grpId="0" animBg="1"/>
      <p:bldP spid="15" grpId="0" animBg="1"/>
      <p:bldP spid="16" grpId="0" animBg="1"/>
      <p:bldP spid="17" grpId="0" animBg="1"/>
      <p:bldP spid="18" grpId="0"/>
      <p:bldP spid="37" grpId="0"/>
      <p:bldP spid="40" grpId="0" animBg="1"/>
      <p:bldP spid="130" grpId="0"/>
      <p:bldP spid="134" grpId="0"/>
      <p:bldP spid="145" grpId="0"/>
      <p:bldP spid="147" grpId="0"/>
      <p:bldP spid="152" grpId="0"/>
      <p:bldP spid="156" grpId="0"/>
      <p:bldP spid="161" grpId="0"/>
      <p:bldP spid="179" grpId="0"/>
      <p:bldP spid="183" grpId="0" animBg="1"/>
      <p:bldP spid="184" grpId="0" animBg="1"/>
      <p:bldP spid="185" grpId="0" animBg="1"/>
      <p:bldP spid="186" grpId="0" animBg="1"/>
      <p:bldP spid="187" grpId="0" animBg="1"/>
      <p:bldP spid="188" grpId="0" animBg="1"/>
      <p:bldP spid="189" grpId="0" animBg="1"/>
      <p:bldP spid="190" grpId="0" animBg="1"/>
      <p:bldP spid="195" grpId="0" animBg="1"/>
      <p:bldP spid="196" grpId="0" animBg="1"/>
      <p:bldP spid="197" grpId="0" animBg="1"/>
      <p:bldP spid="198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8816D1-1B81-5605-65E3-27AAF7B9AE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Full fine-tuning (FFT)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810AE3F-110A-3ABA-63E4-E6AF17D70C6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Checking the till…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r>
                  <a:rPr lang="en-US" dirty="0"/>
                  <a:t>When we update the base model weights we need, per parameter:</a:t>
                </a:r>
              </a:p>
              <a:p>
                <a:pPr lvl="1"/>
                <a:r>
                  <a:rPr lang="en-US" dirty="0"/>
                  <a:t>Weights, gradients, first and second moments of Adam </a:t>
                </a:r>
                <a:r>
                  <a:rPr lang="en-US" dirty="0" err="1"/>
                  <a:t>optimiser</a:t>
                </a:r>
                <a:r>
                  <a:rPr lang="en-US" dirty="0"/>
                  <a:t> state</a:t>
                </a:r>
              </a:p>
              <a:p>
                <a:pPr lvl="1"/>
                <a:r>
                  <a:rPr lang="en-US" dirty="0"/>
                  <a:t>So, roughly 4 copies of the model</a:t>
                </a:r>
              </a:p>
              <a:p>
                <a:r>
                  <a:rPr lang="en-GB" i="1" dirty="0"/>
                  <a:t>Llama 3.1 70B</a:t>
                </a:r>
              </a:p>
              <a:p>
                <a:pPr lvl="1"/>
                <a:r>
                  <a:rPr lang="en-GB" b="0" dirty="0"/>
                  <a:t>For bf16 / fp16</a:t>
                </a:r>
                <a:r>
                  <a:rPr lang="en-GB" dirty="0"/>
                  <a:t>, that’s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4×2=8</m:t>
                    </m:r>
                  </m:oMath>
                </a14:m>
                <a:r>
                  <a:rPr lang="en-GB" b="0" dirty="0"/>
                  <a:t> bytes per parameter.</a:t>
                </a:r>
              </a:p>
              <a:p>
                <a:pPr lvl="1"/>
                <a:r>
                  <a:rPr lang="en-GB" dirty="0"/>
                  <a:t>~560GB total!</a:t>
                </a:r>
              </a:p>
              <a:p>
                <a:r>
                  <a:rPr lang="en-GB" b="0" dirty="0"/>
                  <a:t>Or 7 NVIDIA H100s…</a:t>
                </a:r>
              </a:p>
              <a:p>
                <a:pPr lvl="1"/>
                <a:endParaRPr lang="en-GB" b="0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810AE3F-110A-3ABA-63E4-E6AF17D70C6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  <a:blipFill>
                <a:blip r:embed="rId3"/>
                <a:stretch>
                  <a:fillRect l="-1206" t="-20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B6289DDE-6365-2D56-9816-D810A15604C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18452" y="4562061"/>
            <a:ext cx="638802" cy="3593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12476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295CA90D-6696-703B-AB5B-E662DC9F02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2333" y="1084573"/>
            <a:ext cx="9567333" cy="46888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818199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6B65C6-7368-0F57-20BE-C1B4EC6E66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Low Rank Adaptation (</a:t>
            </a:r>
            <a:r>
              <a:rPr lang="en-US" dirty="0" err="1"/>
              <a:t>LoRA</a:t>
            </a:r>
            <a:r>
              <a:rPr lang="en-US" dirty="0"/>
              <a:t>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4651F13-AF21-EA3D-7A18-0F58CF5A963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At each </a:t>
                </a:r>
                <a:r>
                  <a:rPr lang="en-US" dirty="0" err="1"/>
                  <a:t>optimiser</a:t>
                </a:r>
                <a:r>
                  <a:rPr lang="en-US" dirty="0"/>
                  <a:t> step, instead of updating: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sub>
                        <m:sup>
                          <m:d>
                            <m:d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d>
                        </m:sup>
                      </m:sSubSup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,</m:t>
                      </m:r>
                      <m:sSubSup>
                        <m:sSubSup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sub>
                        <m:sup>
                          <m:d>
                            <m:d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d>
                        </m:sup>
                      </m:sSubSup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,</m:t>
                      </m:r>
                      <m:sSubSup>
                        <m:sSubSup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sub>
                        <m:sup>
                          <m:d>
                            <m:d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d>
                        </m:sup>
                      </m:sSubSup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,</m:t>
                      </m:r>
                      <m:sSubSup>
                        <m:sSubSupPr>
                          <m:ctrlP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↑</m:t>
                          </m:r>
                        </m:sub>
                        <m:sup>
                          <m:d>
                            <m:d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e>
                          </m:d>
                        </m:sup>
                      </m:sSubSup>
                      <m:r>
                        <a:rPr lang="en-GB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sSubSup>
                        <m:sSubSupPr>
                          <m:ctrlP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↓</m:t>
                          </m:r>
                        </m:sub>
                        <m:sup>
                          <m:d>
                            <m:d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e>
                          </m:d>
                        </m:sup>
                      </m:sSubSup>
                      <m:r>
                        <a:rPr lang="en-GB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,…∀</m:t>
                      </m:r>
                      <m:r>
                        <a:rPr lang="en-GB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𝑖</m:t>
                      </m:r>
                      <m:r>
                        <a:rPr lang="en-GB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</m:t>
                      </m:r>
                      <m:d>
                        <m:dPr>
                          <m:begChr m:val="["/>
                          <m:endChr m:val="]"/>
                          <m:ctrlP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1,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𝐿</m:t>
                          </m:r>
                        </m:e>
                      </m:d>
                    </m:oMath>
                  </m:oMathPara>
                </a14:m>
                <a:endParaRPr lang="en-GB" dirty="0"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GB" b="0" dirty="0">
                  <a:ea typeface="Cambria Math" panose="02040503050406030204" pitchFamily="18" charset="0"/>
                </a:endParaRPr>
              </a:p>
              <a:p>
                <a:r>
                  <a:rPr lang="en-GB" b="0" dirty="0">
                    <a:ea typeface="Cambria Math" panose="02040503050406030204" pitchFamily="18" charset="0"/>
                  </a:rPr>
                  <a:t>For a given weight matrix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</m:sub>
                      <m:sup>
                        <m:d>
                          <m:dPr>
                            <m:ctrlP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</m:e>
                        </m:d>
                      </m:sup>
                    </m:sSubSup>
                    <m:r>
                      <a:rPr lang="en-GB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</m:t>
                        </m:r>
                      </m:sup>
                    </m:sSup>
                  </m:oMath>
                </a14:m>
                <a:r>
                  <a:rPr lang="en-GB" b="0" dirty="0">
                    <a:ea typeface="Cambria Math" panose="02040503050406030204" pitchFamily="18" charset="0"/>
                  </a:rPr>
                  <a:t>, </a:t>
                </a:r>
                <a:r>
                  <a:rPr lang="en-GB" b="0" dirty="0">
                    <a:solidFill>
                      <a:schemeClr val="accent4"/>
                    </a:solidFill>
                    <a:ea typeface="Cambria Math" panose="02040503050406030204" pitchFamily="18" charset="0"/>
                  </a:rPr>
                  <a:t>freeze</a:t>
                </a:r>
                <a:r>
                  <a:rPr lang="en-GB" b="0" dirty="0">
                    <a:ea typeface="Cambria Math" panose="02040503050406030204" pitchFamily="18" charset="0"/>
                  </a:rPr>
                  <a:t> the base weights and update a low rank adapter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GB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Δ</m:t>
                    </m:r>
                    <m:sSubSup>
                      <m:sSubSupPr>
                        <m:ctrlP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</m:sub>
                      <m:sup>
                        <m:d>
                          <m:dPr>
                            <m:ctrlP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</m:e>
                        </m:d>
                      </m:sup>
                    </m:sSubSup>
                  </m:oMath>
                </a14:m>
                <a:r>
                  <a:rPr lang="en-GB" b="0" dirty="0">
                    <a:ea typeface="Cambria Math" panose="02040503050406030204" pitchFamily="18" charset="0"/>
                  </a:rPr>
                  <a:t>:</a:t>
                </a:r>
              </a:p>
              <a:p>
                <a:endParaRPr lang="en-GB" dirty="0"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𝑊</m:t>
                      </m:r>
                      <m:r>
                        <a:rPr lang="en-GB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⟶</m:t>
                      </m:r>
                      <m:r>
                        <a:rPr lang="en-GB" b="0" i="1" smtClean="0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𝑊</m:t>
                      </m:r>
                      <m:r>
                        <a:rPr lang="en-GB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GB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num>
                        <m:den>
                          <m:r>
                            <a:rPr lang="en-GB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𝑟</m:t>
                          </m:r>
                        </m:den>
                      </m:f>
                      <m:r>
                        <m:rPr>
                          <m:sty m:val="p"/>
                        </m:rPr>
                        <a:rPr lang="en-GB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Δ</m:t>
                      </m:r>
                      <m:r>
                        <a:rPr lang="en-GB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𝑊</m:t>
                      </m:r>
                      <m:r>
                        <a:rPr lang="en-GB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 ; </m:t>
                      </m:r>
                      <m:r>
                        <a:rPr lang="en-GB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r>
                        <a:rPr lang="en-GB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r>
                        <a:rPr lang="en-GB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𝑟</m:t>
                      </m:r>
                      <m:r>
                        <a:rPr lang="en-GB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</m:t>
                      </m:r>
                      <m:r>
                        <a:rPr lang="en-GB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ℝ</m:t>
                      </m:r>
                    </m:oMath>
                  </m:oMathPara>
                </a14:m>
                <a:endParaRPr lang="en-GB" b="0" dirty="0"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GB" b="0" dirty="0"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GB" b="0" dirty="0"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GB" b="0" dirty="0"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GB" b="0" dirty="0"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GB" b="0" dirty="0"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GB" b="0" dirty="0">
                  <a:ea typeface="Cambria Math" panose="02040503050406030204" pitchFamily="18" charset="0"/>
                </a:endParaRPr>
              </a:p>
              <a:p>
                <a:endParaRPr lang="en-GB" b="0" dirty="0">
                  <a:ea typeface="Cambria Math" panose="02040503050406030204" pitchFamily="18" charset="0"/>
                </a:endParaRPr>
              </a:p>
              <a:p>
                <a:endParaRPr lang="en-GB" b="0" dirty="0"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4651F13-AF21-EA3D-7A18-0F58CF5A963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3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17A86EBF-FB03-847A-2928-B9BC6CEDF4DB}"/>
              </a:ext>
            </a:extLst>
          </p:cNvPr>
          <p:cNvCxnSpPr>
            <a:cxnSpLocks/>
          </p:cNvCxnSpPr>
          <p:nvPr/>
        </p:nvCxnSpPr>
        <p:spPr>
          <a:xfrm flipH="1">
            <a:off x="6527938" y="5048250"/>
            <a:ext cx="790575" cy="34290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5736B47A-6417-5E03-4494-1634D5F211DC}"/>
              </a:ext>
            </a:extLst>
          </p:cNvPr>
          <p:cNvSpPr txBox="1"/>
          <p:nvPr/>
        </p:nvSpPr>
        <p:spPr>
          <a:xfrm>
            <a:off x="7318513" y="4728647"/>
            <a:ext cx="14478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Update this!</a:t>
            </a:r>
          </a:p>
        </p:txBody>
      </p:sp>
    </p:spTree>
    <p:extLst>
      <p:ext uri="{BB962C8B-B14F-4D97-AF65-F5344CB8AC3E}">
        <p14:creationId xmlns:p14="http://schemas.microsoft.com/office/powerpoint/2010/main" val="13662934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D4D696-7AF6-6309-A43F-228AAFF172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Low Rank Adaptation (</a:t>
            </a:r>
            <a:r>
              <a:rPr lang="en-US" dirty="0" err="1"/>
              <a:t>LoRA</a:t>
            </a:r>
            <a:r>
              <a:rPr lang="en-US" dirty="0"/>
              <a:t>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820C3F7-B508-37BD-DF0D-47B160176E3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28261" y="1825625"/>
                <a:ext cx="10515600" cy="4351338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US" dirty="0"/>
                  <a:t>This is great, so long as we can make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GB" b="0" i="0" smtClean="0">
                        <a:latin typeface="Cambria Math" panose="02040503050406030204" pitchFamily="18" charset="0"/>
                      </a:rPr>
                      <m:t>Δ</m:t>
                    </m:r>
                    <m:r>
                      <a:rPr lang="en-GB" b="0" i="0" smtClean="0">
                        <a:latin typeface="Cambria Math" panose="02040503050406030204" pitchFamily="18" charset="0"/>
                      </a:rPr>
                      <m:t>𝑊</m:t>
                    </m:r>
                  </m:oMath>
                </a14:m>
                <a:r>
                  <a:rPr lang="en-GB" b="0" dirty="0"/>
                  <a:t> “parameter efficient”</a:t>
                </a:r>
                <a:r>
                  <a:rPr lang="en-US" dirty="0"/>
                  <a:t>, i.e. better than the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×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GB" b="0" dirty="0"/>
                  <a:t> parameters defined in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𝑊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For consistency: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𝑊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→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𝑊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en-GB" b="0" i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0" smtClean="0">
                            <a:latin typeface="Cambria Math" panose="02040503050406030204" pitchFamily="18" charset="0"/>
                          </a:rPr>
                          <m:t>𝛼</m:t>
                        </m:r>
                      </m:num>
                      <m:den>
                        <m:r>
                          <a:rPr lang="en-GB" b="0" i="0" smtClean="0">
                            <a:latin typeface="Cambria Math" panose="02040503050406030204" pitchFamily="18" charset="0"/>
                          </a:rPr>
                          <m:t>𝑟</m:t>
                        </m:r>
                      </m:den>
                    </m:f>
                    <m:r>
                      <m:rPr>
                        <m:sty m:val="p"/>
                      </m:rPr>
                      <a:rPr lang="en-GB" b="0" i="0" smtClean="0">
                        <a:latin typeface="Cambria Math" panose="02040503050406030204" pitchFamily="18" charset="0"/>
                      </a:rPr>
                      <m:t>Δ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𝑊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⟹</m:t>
                    </m:r>
                    <m:r>
                      <m:rPr>
                        <m:sty m:val="p"/>
                      </m:rPr>
                      <a:rPr lang="en-GB" b="0" i="0" smtClean="0">
                        <a:latin typeface="Cambria Math" panose="02040503050406030204" pitchFamily="18" charset="0"/>
                      </a:rPr>
                      <m:t>Δ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𝑊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×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p>
                  </m:oMath>
                </a14:m>
                <a:endParaRPr lang="en-GB" b="0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𝑊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 ; 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×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sup>
                      </m:sSup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×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sup>
                      </m:sSup>
                    </m:oMath>
                  </m:oMathPara>
                </a14:m>
                <a:endParaRPr lang="en-GB" b="0" dirty="0"/>
              </a:p>
              <a:p>
                <a:pPr marL="0" indent="0">
                  <a:buNone/>
                </a:pPr>
                <a:endParaRPr lang="en-GB" b="0" dirty="0"/>
              </a:p>
              <a:p>
                <a:pPr marL="0" indent="0">
                  <a:buNone/>
                </a:pPr>
                <a:r>
                  <a:rPr lang="en-GB" b="0" dirty="0"/>
                  <a:t>So, that’s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𝑟</m:t>
                    </m:r>
                    <m:d>
                      <m:d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</m:d>
                    <m:r>
                      <a:rPr lang="en-GB" b="0" i="1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𝑛𝑚</m:t>
                    </m:r>
                  </m:oMath>
                </a14:m>
                <a:r>
                  <a:rPr lang="en-GB" b="0" dirty="0"/>
                  <a:t> parameters!</a:t>
                </a:r>
              </a:p>
              <a:p>
                <a:pPr marL="0" indent="0">
                  <a:buNone/>
                </a:pPr>
                <a:r>
                  <a:rPr lang="en-GB" b="0" dirty="0"/>
                  <a:t> </a:t>
                </a:r>
              </a:p>
              <a:p>
                <a:pPr marL="0" indent="0">
                  <a:buNone/>
                </a:pPr>
                <a:endParaRPr lang="en-GB" b="0" dirty="0"/>
              </a:p>
              <a:p>
                <a:pPr marL="0" indent="0">
                  <a:buNone/>
                </a:pPr>
                <a:endParaRPr lang="en-GB" b="0" dirty="0"/>
              </a:p>
              <a:p>
                <a:pPr marL="0" indent="0">
                  <a:buNone/>
                </a:pPr>
                <a:endParaRPr lang="en-GB" b="0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820C3F7-B508-37BD-DF0D-47B160176E3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28261" y="1825625"/>
                <a:ext cx="10515600" cy="4351338"/>
              </a:xfrm>
              <a:blipFill>
                <a:blip r:embed="rId3"/>
                <a:stretch>
                  <a:fillRect l="-1206" t="-348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14B9306B-6E81-6D13-761C-C8D146D242EA}"/>
              </a:ext>
            </a:extLst>
          </p:cNvPr>
          <p:cNvCxnSpPr>
            <a:cxnSpLocks/>
          </p:cNvCxnSpPr>
          <p:nvPr/>
        </p:nvCxnSpPr>
        <p:spPr>
          <a:xfrm flipH="1" flipV="1">
            <a:off x="8060635" y="4289531"/>
            <a:ext cx="705678" cy="86887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13EDE5F-A180-B8CA-F193-570B7309FCF2}"/>
                  </a:ext>
                </a:extLst>
              </p:cNvPr>
              <p:cNvSpPr txBox="1"/>
              <p:nvPr/>
            </p:nvSpPr>
            <p:spPr>
              <a:xfrm>
                <a:off x="8766313" y="4973743"/>
                <a:ext cx="315070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 err="1"/>
                  <a:t>LoRA</a:t>
                </a:r>
                <a:r>
                  <a:rPr lang="en-US" dirty="0"/>
                  <a:t> rank (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dirty="0"/>
                  <a:t>)</a:t>
                </a:r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13EDE5F-A180-B8CA-F193-570B7309FCF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66313" y="4973743"/>
                <a:ext cx="3150704" cy="369332"/>
              </a:xfrm>
              <a:prstGeom prst="rect">
                <a:avLst/>
              </a:prstGeom>
              <a:blipFill>
                <a:blip r:embed="rId4"/>
                <a:stretch>
                  <a:fillRect l="-1606" t="-6667" b="-2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872632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95CEB0-C54D-9D98-44C8-75EBAC9EE9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Low Rank Adaptation (</a:t>
            </a:r>
            <a:r>
              <a:rPr lang="en-US" dirty="0" err="1"/>
              <a:t>LoRA</a:t>
            </a:r>
            <a:r>
              <a:rPr lang="en-US" dirty="0"/>
              <a:t>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F486C92-4845-15C2-6FD0-5FDE243B24D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5032376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Checking the till…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r>
                  <a:rPr lang="en-US" i="1" dirty="0"/>
                  <a:t>Llama 3.1 70B</a:t>
                </a:r>
              </a:p>
              <a:p>
                <a:pPr lvl="1"/>
                <a:r>
                  <a:rPr lang="en-US" dirty="0"/>
                  <a:t>Rank 8 </a:t>
                </a:r>
                <a:r>
                  <a:rPr lang="en-US" dirty="0" err="1"/>
                  <a:t>LoRA</a:t>
                </a:r>
                <a:r>
                  <a:rPr lang="en-US" dirty="0"/>
                  <a:t> on attention only yields ~10M trainable parameters</a:t>
                </a:r>
              </a:p>
              <a:p>
                <a:pPr lvl="1"/>
                <a:r>
                  <a:rPr lang="en-US" dirty="0"/>
                  <a:t>10M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× 8</m:t>
                    </m:r>
                  </m:oMath>
                </a14:m>
                <a:r>
                  <a:rPr lang="en-GB" b="0" dirty="0"/>
                  <a:t> ~ 80 MB for training state</a:t>
                </a:r>
              </a:p>
              <a:p>
                <a:r>
                  <a:rPr lang="en-GB" dirty="0"/>
                  <a:t>Base model weights still stored</a:t>
                </a:r>
              </a:p>
              <a:p>
                <a:pPr lvl="1"/>
                <a:r>
                  <a:rPr lang="en-GB" dirty="0"/>
                  <a:t>Quantize to 4-bit (</a:t>
                </a:r>
                <a:r>
                  <a:rPr lang="en-GB" i="1" dirty="0"/>
                  <a:t>int4</a:t>
                </a:r>
                <a:r>
                  <a:rPr lang="en-GB" dirty="0"/>
                  <a:t>), this is known as </a:t>
                </a:r>
                <a:r>
                  <a:rPr lang="en-GB" dirty="0" err="1"/>
                  <a:t>qLoRA</a:t>
                </a:r>
                <a:r>
                  <a:rPr lang="en-GB" dirty="0"/>
                  <a:t> (quantized </a:t>
                </a:r>
                <a:r>
                  <a:rPr lang="en-GB" dirty="0" err="1"/>
                  <a:t>LoRA</a:t>
                </a:r>
                <a:r>
                  <a:rPr lang="en-GB" dirty="0"/>
                  <a:t>)</a:t>
                </a:r>
              </a:p>
              <a:p>
                <a:pPr lvl="1"/>
                <a:r>
                  <a:rPr lang="en-GB" dirty="0"/>
                  <a:t>Base model weights ~ 50 GB</a:t>
                </a:r>
              </a:p>
              <a:p>
                <a:r>
                  <a:rPr lang="en-US" dirty="0"/>
                  <a:t>Total: ~50GB</a:t>
                </a:r>
              </a:p>
              <a:p>
                <a:r>
                  <a:rPr lang="en-US" b="0" dirty="0"/>
                  <a:t>This can fit on a single </a:t>
                </a:r>
                <a:r>
                  <a:rPr lang="en-US" dirty="0"/>
                  <a:t>80GB GPU</a:t>
                </a:r>
                <a:r>
                  <a:rPr lang="en-US" b="0" dirty="0"/>
                  <a:t> very comfortably!</a:t>
                </a:r>
                <a:endParaRPr lang="en-GB" b="0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F486C92-4845-15C2-6FD0-5FDE243B24D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5032376"/>
              </a:xfrm>
              <a:blipFill>
                <a:blip r:embed="rId3"/>
                <a:stretch>
                  <a:fillRect l="-1206" t="-20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4583E127-6AA0-0128-C0D9-70791ED94FC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58817" y="2882348"/>
            <a:ext cx="638802" cy="3593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66723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B9E6AA-108C-1587-7EEA-B2457EFCDD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0790583" cy="1325563"/>
          </a:xfrm>
        </p:spPr>
        <p:txBody>
          <a:bodyPr/>
          <a:lstStyle/>
          <a:p>
            <a:r>
              <a:rPr lang="en-US" dirty="0"/>
              <a:t>Quantized Low Rank Adaptation (</a:t>
            </a:r>
            <a:r>
              <a:rPr lang="en-US" dirty="0" err="1"/>
              <a:t>qLoRA</a:t>
            </a:r>
            <a:r>
              <a:rPr lang="en-US" dirty="0"/>
              <a:t>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9EC21F1-D057-F46D-D7C2-A32FF63E11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2282085"/>
            <a:ext cx="7772400" cy="2949814"/>
          </a:xfrm>
          <a:prstGeom prst="rect">
            <a:avLst/>
          </a:prstGeom>
        </p:spPr>
      </p:pic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BBEC6AEC-14BF-75A8-0986-AFF173139B6B}"/>
              </a:ext>
            </a:extLst>
          </p:cNvPr>
          <p:cNvSpPr txBox="1">
            <a:spLocks/>
          </p:cNvSpPr>
          <p:nvPr/>
        </p:nvSpPr>
        <p:spPr>
          <a:xfrm>
            <a:off x="8740464" y="6158508"/>
            <a:ext cx="3118738" cy="529390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dirty="0">
                <a:solidFill>
                  <a:schemeClr val="tx1">
                    <a:lumMod val="50000"/>
                  </a:schemeClr>
                </a:solidFill>
              </a:rPr>
              <a:t>arXiv:2305.14314v1</a:t>
            </a:r>
            <a:endParaRPr lang="en-US" sz="2400" dirty="0">
              <a:solidFill>
                <a:schemeClr val="tx1">
                  <a:lumMod val="50000"/>
                </a:schemeClr>
              </a:solidFill>
            </a:endParaRPr>
          </a:p>
          <a:p>
            <a:endParaRPr lang="en-US" sz="2400" dirty="0">
              <a:solidFill>
                <a:schemeClr val="tx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837807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17E0F4-7B30-80C2-2460-E2E5B91842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LoRA</a:t>
            </a:r>
            <a:r>
              <a:rPr lang="en-US" dirty="0"/>
              <a:t> Hyperparameters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70D652B-5067-C514-F2BB-15A44211FDD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4667251"/>
              </a:xfrm>
            </p:spPr>
            <p:txBody>
              <a:bodyPr>
                <a:normAutofit fontScale="92500" lnSpcReduction="10000"/>
              </a:bodyPr>
              <a:lstStyle/>
              <a:p>
                <a:r>
                  <a:rPr lang="en-US" dirty="0" err="1"/>
                  <a:t>LoRA</a:t>
                </a:r>
                <a:r>
                  <a:rPr lang="en-US" dirty="0"/>
                  <a:t> Rank (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dirty="0"/>
                  <a:t>)</a:t>
                </a:r>
              </a:p>
              <a:p>
                <a:pPr lvl="1"/>
                <a:r>
                  <a:rPr lang="en-US" dirty="0"/>
                  <a:t>Rank of </a:t>
                </a:r>
                <a:r>
                  <a:rPr lang="en-US" dirty="0" err="1"/>
                  <a:t>LoRA</a:t>
                </a:r>
                <a:r>
                  <a:rPr lang="en-US" dirty="0"/>
                  <a:t> adapters, dial for no. of trainable parameters</a:t>
                </a:r>
              </a:p>
              <a:p>
                <a:r>
                  <a:rPr lang="en-US" dirty="0" err="1"/>
                  <a:t>LoRA</a:t>
                </a:r>
                <a:r>
                  <a:rPr lang="en-US" dirty="0"/>
                  <a:t> Alpha (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GB" b="0" dirty="0"/>
              </a:p>
              <a:p>
                <a:pPr lvl="1"/>
                <a:r>
                  <a:rPr lang="en-GB" b="0" dirty="0"/>
                  <a:t>Scaling </a:t>
                </a:r>
                <a:r>
                  <a:rPr lang="en-GB" dirty="0"/>
                  <a:t>parameter, usually </a:t>
                </a:r>
                <a14:m>
                  <m:oMath xmlns:m="http://schemas.openxmlformats.org/officeDocument/2006/math">
                    <m:r>
                      <a:rPr lang="en-GB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GB" b="0" dirty="0"/>
                  <a:t> or </a:t>
                </a:r>
                <a14:m>
                  <m:oMath xmlns:m="http://schemas.openxmlformats.org/officeDocument/2006/math">
                    <m:r>
                      <a:rPr lang="en-GB" i="1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=2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endParaRPr lang="en-GB" b="0" dirty="0"/>
              </a:p>
              <a:p>
                <a:r>
                  <a:rPr lang="en-GB" b="0" dirty="0"/>
                  <a:t>Target Layers</a:t>
                </a:r>
              </a:p>
              <a:p>
                <a:pPr lvl="1"/>
                <a:r>
                  <a:rPr lang="en-GB" b="0" dirty="0"/>
                  <a:t>Which matrices of the transformer to apply </a:t>
                </a:r>
                <a:r>
                  <a:rPr lang="en-GB" b="0" dirty="0" err="1"/>
                  <a:t>LoRA</a:t>
                </a:r>
                <a:r>
                  <a:rPr lang="en-GB" b="0" dirty="0"/>
                  <a:t> adapters to</a:t>
                </a:r>
              </a:p>
              <a:p>
                <a:pPr lvl="1"/>
                <a:r>
                  <a:rPr lang="en-GB" dirty="0" err="1"/>
                  <a:t>q_proj</a:t>
                </a:r>
                <a:r>
                  <a:rPr lang="en-GB" dirty="0"/>
                  <a:t>, </a:t>
                </a:r>
                <a:r>
                  <a:rPr lang="en-GB" dirty="0" err="1"/>
                  <a:t>k_proj</a:t>
                </a:r>
                <a:r>
                  <a:rPr lang="en-GB" dirty="0"/>
                  <a:t>, </a:t>
                </a:r>
                <a:r>
                  <a:rPr lang="en-GB" dirty="0" err="1"/>
                  <a:t>v_proj</a:t>
                </a:r>
                <a:r>
                  <a:rPr lang="en-GB" dirty="0"/>
                  <a:t>, </a:t>
                </a:r>
                <a:r>
                  <a:rPr lang="en-GB" dirty="0" err="1"/>
                  <a:t>o_proj</a:t>
                </a:r>
                <a:r>
                  <a:rPr lang="en-GB" dirty="0"/>
                  <a:t>, </a:t>
                </a:r>
                <a:r>
                  <a:rPr lang="en-GB" dirty="0" err="1"/>
                  <a:t>up_proj</a:t>
                </a:r>
                <a:r>
                  <a:rPr lang="en-GB" dirty="0"/>
                  <a:t>, </a:t>
                </a:r>
                <a:r>
                  <a:rPr lang="en-GB" dirty="0" err="1"/>
                  <a:t>down_proj</a:t>
                </a:r>
                <a:r>
                  <a:rPr lang="en-GB" dirty="0"/>
                  <a:t>, </a:t>
                </a:r>
                <a:r>
                  <a:rPr lang="en-GB" dirty="0" err="1"/>
                  <a:t>gate_proj</a:t>
                </a:r>
                <a:endParaRPr lang="en-GB" dirty="0"/>
              </a:p>
              <a:p>
                <a:r>
                  <a:rPr lang="en-GB" b="0" dirty="0"/>
                  <a:t>Micro batch size</a:t>
                </a:r>
              </a:p>
              <a:p>
                <a:pPr lvl="1"/>
                <a:r>
                  <a:rPr lang="en-GB" dirty="0"/>
                  <a:t>Number of samples processed in a single update on the GPU</a:t>
                </a:r>
              </a:p>
              <a:p>
                <a:r>
                  <a:rPr lang="en-GB" dirty="0"/>
                  <a:t>Gradient accumulation steps</a:t>
                </a:r>
              </a:p>
              <a:p>
                <a:pPr lvl="1"/>
                <a:r>
                  <a:rPr lang="en-GB" dirty="0"/>
                  <a:t>Number of micro batches whose gradients are summed before performing an optimiser update</a:t>
                </a:r>
              </a:p>
              <a:p>
                <a:endParaRPr lang="en-GB" b="0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70D652B-5067-C514-F2BB-15A44211FDD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4667251"/>
              </a:xfrm>
              <a:blipFill>
                <a:blip r:embed="rId3"/>
                <a:stretch>
                  <a:fillRect l="-965" t="-271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175958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664F30-38D4-2799-E4CE-0EE50D5390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66218"/>
            <a:ext cx="10515600" cy="1325563"/>
          </a:xfrm>
        </p:spPr>
        <p:txBody>
          <a:bodyPr/>
          <a:lstStyle/>
          <a:p>
            <a:pPr algn="ctr"/>
            <a:r>
              <a:rPr lang="en-US" dirty="0"/>
              <a:t>notebooks/</a:t>
            </a:r>
            <a:r>
              <a:rPr lang="en-US" dirty="0" err="1"/>
              <a:t>lora.ipynb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E4538A2-C695-ADFD-82C2-1DC871FFCA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8765" y="3057939"/>
            <a:ext cx="742121" cy="7421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497003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538D9D"/>
      </a:hlink>
      <a:folHlink>
        <a:srgbClr val="A5738E"/>
      </a:folHlink>
    </a:clrScheme>
    <a:fontScheme name="Georgia">
      <a:majorFont>
        <a:latin typeface="Georgia" panose="02040502050405020303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Georgia" panose="02040502050405020303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3A418E6B-C5F0-4B95-8D77-61E3EF3B5DF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407</TotalTime>
  <Words>1019</Words>
  <Application>Microsoft Macintosh PowerPoint</Application>
  <PresentationFormat>Widescreen</PresentationFormat>
  <Paragraphs>191</Paragraphs>
  <Slides>16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1" baseType="lpstr">
      <vt:lpstr>Aptos</vt:lpstr>
      <vt:lpstr>Arial</vt:lpstr>
      <vt:lpstr>Cambria Math</vt:lpstr>
      <vt:lpstr>Georgia</vt:lpstr>
      <vt:lpstr>Office Theme</vt:lpstr>
      <vt:lpstr>Fine-tuning LLMs</vt:lpstr>
      <vt:lpstr>January 2025</vt:lpstr>
      <vt:lpstr>Setup for Hands-on Exercises</vt:lpstr>
      <vt:lpstr>PowerPoint Presentation</vt:lpstr>
      <vt:lpstr>Overview</vt:lpstr>
      <vt:lpstr>Why (Parameter Efficient) Fine-tuning?</vt:lpstr>
      <vt:lpstr>Entry Points for PEFT</vt:lpstr>
      <vt:lpstr>Full Fine-tuning (FFT)</vt:lpstr>
      <vt:lpstr>Full fine-tuning (FFT)</vt:lpstr>
      <vt:lpstr>PowerPoint Presentation</vt:lpstr>
      <vt:lpstr>Low Rank Adaptation (LoRA)</vt:lpstr>
      <vt:lpstr>Low Rank Adaptation (LoRA)</vt:lpstr>
      <vt:lpstr>Low Rank Adaptation (LoRA)</vt:lpstr>
      <vt:lpstr>Quantized Low Rank Adaptation (qLoRA)</vt:lpstr>
      <vt:lpstr>LoRA Hyperparameters</vt:lpstr>
      <vt:lpstr>notebooks/lora.ipynb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Finley Griffin</dc:creator>
  <cp:lastModifiedBy>Finley Griffin</cp:lastModifiedBy>
  <cp:revision>26</cp:revision>
  <dcterms:created xsi:type="dcterms:W3CDTF">2026-03-17T13:58:09Z</dcterms:created>
  <dcterms:modified xsi:type="dcterms:W3CDTF">2026-03-18T17:25:22Z</dcterms:modified>
</cp:coreProperties>
</file>